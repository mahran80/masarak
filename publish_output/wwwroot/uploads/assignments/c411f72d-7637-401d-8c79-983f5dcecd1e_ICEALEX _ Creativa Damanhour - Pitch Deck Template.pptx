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kRgrFHbNbEuBfJYgYSRwI7kzl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jp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jp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jpg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jp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0" type="dt"/>
          </p:nvPr>
        </p:nvSpPr>
        <p:spPr>
          <a:xfrm>
            <a:off x="2810692" y="6369414"/>
            <a:ext cx="10951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1" type="ftr"/>
          </p:nvPr>
        </p:nvSpPr>
        <p:spPr>
          <a:xfrm>
            <a:off x="5111930" y="6356350"/>
            <a:ext cx="30414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6" name="Google Shape;16;p17"/>
          <p:cNvGrpSpPr/>
          <p:nvPr/>
        </p:nvGrpSpPr>
        <p:grpSpPr>
          <a:xfrm>
            <a:off x="838199" y="6135205"/>
            <a:ext cx="11353802" cy="370098"/>
            <a:chOff x="838199" y="6135205"/>
            <a:chExt cx="11353802" cy="370098"/>
          </a:xfrm>
        </p:grpSpPr>
        <p:pic>
          <p:nvPicPr>
            <p:cNvPr id="17" name="Google Shape;17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56713" y="6176963"/>
              <a:ext cx="10335288" cy="2055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8199" y="6135205"/>
              <a:ext cx="1018513" cy="37009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" name="Google Shape;19;p17"/>
          <p:cNvPicPr preferRelativeResize="0"/>
          <p:nvPr/>
        </p:nvPicPr>
        <p:blipFill rotWithShape="1">
          <a:blip r:embed="rId4">
            <a:alphaModFix/>
          </a:blip>
          <a:srcRect b="0" l="0" r="6299" t="19289"/>
          <a:stretch/>
        </p:blipFill>
        <p:spPr>
          <a:xfrm>
            <a:off x="-1" y="950346"/>
            <a:ext cx="10611419" cy="1093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18"/>
          <p:cNvGrpSpPr/>
          <p:nvPr/>
        </p:nvGrpSpPr>
        <p:grpSpPr>
          <a:xfrm>
            <a:off x="9797" y="0"/>
            <a:ext cx="12193633" cy="6868932"/>
            <a:chOff x="9797" y="0"/>
            <a:chExt cx="12193633" cy="6868932"/>
          </a:xfrm>
        </p:grpSpPr>
        <p:pic>
          <p:nvPicPr>
            <p:cNvPr id="22" name="Google Shape;22;p1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88577" y="0"/>
              <a:ext cx="10258697" cy="68689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18"/>
            <p:cNvPicPr preferRelativeResize="0"/>
            <p:nvPr/>
          </p:nvPicPr>
          <p:blipFill rotWithShape="1">
            <a:blip r:embed="rId3">
              <a:alphaModFix/>
            </a:blip>
            <a:srcRect b="0" l="91711" r="0" t="0"/>
            <a:stretch/>
          </p:blipFill>
          <p:spPr>
            <a:xfrm>
              <a:off x="11351078" y="0"/>
              <a:ext cx="852352" cy="68625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18"/>
            <p:cNvPicPr preferRelativeResize="0"/>
            <p:nvPr/>
          </p:nvPicPr>
          <p:blipFill rotWithShape="1">
            <a:blip r:embed="rId3">
              <a:alphaModFix/>
            </a:blip>
            <a:srcRect b="0" l="0" r="88577" t="0"/>
            <a:stretch/>
          </p:blipFill>
          <p:spPr>
            <a:xfrm>
              <a:off x="9797" y="0"/>
              <a:ext cx="1174569" cy="68625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61925" y="-95250"/>
            <a:ext cx="12515850" cy="7048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9"/>
          <p:cNvSpPr txBox="1"/>
          <p:nvPr>
            <p:ph idx="1" type="body"/>
          </p:nvPr>
        </p:nvSpPr>
        <p:spPr>
          <a:xfrm>
            <a:off x="2908300" y="2455863"/>
            <a:ext cx="6662738" cy="197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60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id="35" name="Google Shape;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15602" y="6599541"/>
            <a:ext cx="711282" cy="258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1" name="Google Shape;41;p20"/>
          <p:cNvGrpSpPr/>
          <p:nvPr/>
        </p:nvGrpSpPr>
        <p:grpSpPr>
          <a:xfrm>
            <a:off x="9797" y="0"/>
            <a:ext cx="12193633" cy="6862548"/>
            <a:chOff x="9797" y="0"/>
            <a:chExt cx="12193633" cy="6862548"/>
          </a:xfrm>
        </p:grpSpPr>
        <p:pic>
          <p:nvPicPr>
            <p:cNvPr id="42" name="Google Shape;42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76603" y="0"/>
              <a:ext cx="10282646" cy="68625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20"/>
            <p:cNvPicPr preferRelativeResize="0"/>
            <p:nvPr/>
          </p:nvPicPr>
          <p:blipFill rotWithShape="1">
            <a:blip r:embed="rId2">
              <a:alphaModFix/>
            </a:blip>
            <a:srcRect b="0" l="91711" r="0" t="0"/>
            <a:stretch/>
          </p:blipFill>
          <p:spPr>
            <a:xfrm>
              <a:off x="11351078" y="0"/>
              <a:ext cx="852352" cy="68625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Google Shape;44;p20"/>
            <p:cNvPicPr preferRelativeResize="0"/>
            <p:nvPr/>
          </p:nvPicPr>
          <p:blipFill rotWithShape="1">
            <a:blip r:embed="rId2">
              <a:alphaModFix/>
            </a:blip>
            <a:srcRect b="0" l="0" r="88577" t="0"/>
            <a:stretch/>
          </p:blipFill>
          <p:spPr>
            <a:xfrm>
              <a:off x="9797" y="0"/>
              <a:ext cx="1174569" cy="68625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0" type="dt"/>
          </p:nvPr>
        </p:nvSpPr>
        <p:spPr>
          <a:xfrm>
            <a:off x="2810692" y="6369414"/>
            <a:ext cx="10951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1" type="ftr"/>
          </p:nvPr>
        </p:nvSpPr>
        <p:spPr>
          <a:xfrm>
            <a:off x="5111930" y="6356350"/>
            <a:ext cx="30414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2" name="Google Shape;52;p21"/>
          <p:cNvGrpSpPr/>
          <p:nvPr/>
        </p:nvGrpSpPr>
        <p:grpSpPr>
          <a:xfrm>
            <a:off x="838199" y="6135205"/>
            <a:ext cx="11353802" cy="370098"/>
            <a:chOff x="838199" y="6135205"/>
            <a:chExt cx="11353802" cy="370098"/>
          </a:xfrm>
        </p:grpSpPr>
        <p:pic>
          <p:nvPicPr>
            <p:cNvPr id="53" name="Google Shape;5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56713" y="6176963"/>
              <a:ext cx="10335288" cy="2055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5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8199" y="6135205"/>
              <a:ext cx="1018513" cy="37009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5" name="Google Shape;55;p21"/>
          <p:cNvPicPr preferRelativeResize="0"/>
          <p:nvPr/>
        </p:nvPicPr>
        <p:blipFill rotWithShape="1">
          <a:blip r:embed="rId4">
            <a:alphaModFix/>
          </a:blip>
          <a:srcRect b="0" l="0" r="6299" t="19289"/>
          <a:stretch/>
        </p:blipFill>
        <p:spPr>
          <a:xfrm>
            <a:off x="-1" y="950346"/>
            <a:ext cx="10611419" cy="1093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2810692" y="6369414"/>
            <a:ext cx="10951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5111930" y="6356350"/>
            <a:ext cx="30414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22"/>
          <p:cNvGrpSpPr/>
          <p:nvPr/>
        </p:nvGrpSpPr>
        <p:grpSpPr>
          <a:xfrm>
            <a:off x="838199" y="6135205"/>
            <a:ext cx="11353802" cy="370098"/>
            <a:chOff x="838199" y="6135205"/>
            <a:chExt cx="11353802" cy="370098"/>
          </a:xfrm>
        </p:grpSpPr>
        <p:pic>
          <p:nvPicPr>
            <p:cNvPr id="66" name="Google Shape;66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56713" y="6176963"/>
              <a:ext cx="10335288" cy="2055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8199" y="6135205"/>
              <a:ext cx="1018513" cy="37009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8" name="Google Shape;68;p22"/>
          <p:cNvPicPr preferRelativeResize="0"/>
          <p:nvPr/>
        </p:nvPicPr>
        <p:blipFill rotWithShape="1">
          <a:blip r:embed="rId4">
            <a:alphaModFix/>
          </a:blip>
          <a:srcRect b="0" l="0" r="6299" t="19289"/>
          <a:stretch/>
        </p:blipFill>
        <p:spPr>
          <a:xfrm>
            <a:off x="-1" y="950346"/>
            <a:ext cx="10611419" cy="1093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23"/>
          <p:cNvSpPr txBox="1"/>
          <p:nvPr>
            <p:ph idx="10" type="dt"/>
          </p:nvPr>
        </p:nvSpPr>
        <p:spPr>
          <a:xfrm>
            <a:off x="2810692" y="6369414"/>
            <a:ext cx="10951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1" type="ftr"/>
          </p:nvPr>
        </p:nvSpPr>
        <p:spPr>
          <a:xfrm>
            <a:off x="5111930" y="6356350"/>
            <a:ext cx="30414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6" name="Google Shape;76;p23"/>
          <p:cNvGrpSpPr/>
          <p:nvPr/>
        </p:nvGrpSpPr>
        <p:grpSpPr>
          <a:xfrm>
            <a:off x="838199" y="6135205"/>
            <a:ext cx="11353802" cy="370098"/>
            <a:chOff x="838199" y="6135205"/>
            <a:chExt cx="11353802" cy="370098"/>
          </a:xfrm>
        </p:grpSpPr>
        <p:pic>
          <p:nvPicPr>
            <p:cNvPr id="77" name="Google Shape;77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56713" y="6176963"/>
              <a:ext cx="10335288" cy="2055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8199" y="6135205"/>
              <a:ext cx="1018513" cy="3700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24"/>
          <p:cNvSpPr txBox="1"/>
          <p:nvPr>
            <p:ph idx="10" type="dt"/>
          </p:nvPr>
        </p:nvSpPr>
        <p:spPr>
          <a:xfrm>
            <a:off x="2810692" y="6369414"/>
            <a:ext cx="10951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11" type="ftr"/>
          </p:nvPr>
        </p:nvSpPr>
        <p:spPr>
          <a:xfrm>
            <a:off x="5111930" y="6356350"/>
            <a:ext cx="30414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6" name="Google Shape;86;p24"/>
          <p:cNvGrpSpPr/>
          <p:nvPr/>
        </p:nvGrpSpPr>
        <p:grpSpPr>
          <a:xfrm>
            <a:off x="838199" y="6135205"/>
            <a:ext cx="11353802" cy="370098"/>
            <a:chOff x="838199" y="6135205"/>
            <a:chExt cx="11353802" cy="370098"/>
          </a:xfrm>
        </p:grpSpPr>
        <p:pic>
          <p:nvPicPr>
            <p:cNvPr id="87" name="Google Shape;87;p2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56713" y="6176963"/>
              <a:ext cx="10335288" cy="2055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8199" y="6135205"/>
              <a:ext cx="1018513" cy="3700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5"/>
          <p:cNvSpPr txBox="1"/>
          <p:nvPr>
            <p:ph idx="10" type="dt"/>
          </p:nvPr>
        </p:nvSpPr>
        <p:spPr>
          <a:xfrm>
            <a:off x="2810692" y="6369414"/>
            <a:ext cx="10951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1" type="ftr"/>
          </p:nvPr>
        </p:nvSpPr>
        <p:spPr>
          <a:xfrm>
            <a:off x="5111930" y="6356350"/>
            <a:ext cx="30414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5" name="Google Shape;95;p25"/>
          <p:cNvGrpSpPr/>
          <p:nvPr/>
        </p:nvGrpSpPr>
        <p:grpSpPr>
          <a:xfrm>
            <a:off x="838199" y="6135205"/>
            <a:ext cx="11353802" cy="370098"/>
            <a:chOff x="838199" y="6135205"/>
            <a:chExt cx="11353802" cy="370098"/>
          </a:xfrm>
        </p:grpSpPr>
        <p:pic>
          <p:nvPicPr>
            <p:cNvPr id="96" name="Google Shape;96;p2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56713" y="6176963"/>
              <a:ext cx="10335288" cy="2055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8199" y="6135205"/>
              <a:ext cx="1018513" cy="37009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8" name="Google Shape;98;p25"/>
          <p:cNvPicPr preferRelativeResize="0"/>
          <p:nvPr/>
        </p:nvPicPr>
        <p:blipFill rotWithShape="1">
          <a:blip r:embed="rId4">
            <a:alphaModFix/>
          </a:blip>
          <a:srcRect b="0" l="0" r="6299" t="19289"/>
          <a:stretch/>
        </p:blipFill>
        <p:spPr>
          <a:xfrm>
            <a:off x="-1" y="950346"/>
            <a:ext cx="10611419" cy="1093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10" type="dt"/>
          </p:nvPr>
        </p:nvSpPr>
        <p:spPr>
          <a:xfrm>
            <a:off x="2810692" y="6369414"/>
            <a:ext cx="10951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11" type="ftr"/>
          </p:nvPr>
        </p:nvSpPr>
        <p:spPr>
          <a:xfrm>
            <a:off x="5111930" y="6356350"/>
            <a:ext cx="30414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5" name="Google Shape;105;p26"/>
          <p:cNvGrpSpPr/>
          <p:nvPr/>
        </p:nvGrpSpPr>
        <p:grpSpPr>
          <a:xfrm>
            <a:off x="838199" y="6135205"/>
            <a:ext cx="11353802" cy="370098"/>
            <a:chOff x="838199" y="6135205"/>
            <a:chExt cx="11353802" cy="370098"/>
          </a:xfrm>
        </p:grpSpPr>
        <p:pic>
          <p:nvPicPr>
            <p:cNvPr id="106" name="Google Shape;106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56713" y="6176963"/>
              <a:ext cx="10335288" cy="2055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8199" y="6135205"/>
              <a:ext cx="1018513" cy="3700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 type="obj">
  <p:cSld name="OBJEC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0" i="0" sz="4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7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/>
          <p:nvPr/>
        </p:nvSpPr>
        <p:spPr>
          <a:xfrm>
            <a:off x="0" y="0"/>
            <a:ext cx="12191999" cy="685799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0" i="0" sz="4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 b="0" i="0" sz="2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 showMasterSp="0">
  <p:cSld name="1_Title Only"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/>
          <p:nvPr/>
        </p:nvSpPr>
        <p:spPr>
          <a:xfrm>
            <a:off x="1523" y="0"/>
            <a:ext cx="12188825" cy="6854825"/>
          </a:xfrm>
          <a:custGeom>
            <a:rect b="b" l="l" r="r" t="t"/>
            <a:pathLst>
              <a:path extrusionOk="0" h="6854825" w="12188825">
                <a:moveTo>
                  <a:pt x="12188444" y="0"/>
                </a:moveTo>
                <a:lnTo>
                  <a:pt x="0" y="0"/>
                </a:lnTo>
                <a:lnTo>
                  <a:pt x="0" y="6854698"/>
                </a:lnTo>
                <a:lnTo>
                  <a:pt x="12188444" y="6854698"/>
                </a:lnTo>
                <a:lnTo>
                  <a:pt x="12188444" y="0"/>
                </a:lnTo>
                <a:close/>
              </a:path>
            </a:pathLst>
          </a:custGeom>
          <a:solidFill>
            <a:srgbClr val="EBE6A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0" i="0" sz="4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hyperlink" Target="https://www.thebusinessplanshop.com/blog/en/entry/tam_sam_som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1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mailto:info@companyname.com" TargetMode="External"/><Relationship Id="rId4" Type="http://schemas.openxmlformats.org/officeDocument/2006/relationships/hyperlink" Target="http://www.companyname.com/" TargetMode="External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/>
        </p:nvSpPr>
        <p:spPr>
          <a:xfrm>
            <a:off x="11762358" y="6531965"/>
            <a:ext cx="86995" cy="15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 txBox="1"/>
          <p:nvPr>
            <p:ph type="title"/>
          </p:nvPr>
        </p:nvSpPr>
        <p:spPr>
          <a:xfrm>
            <a:off x="838200" y="2928620"/>
            <a:ext cx="10515600" cy="141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9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SzPts val="1800"/>
              <a:buNone/>
            </a:pPr>
            <a:r>
              <a:rPr b="1" lang="en-US" sz="5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Pitch Deck Outline</a:t>
            </a:r>
            <a:br>
              <a:rPr lang="en-US" sz="5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How Each Slide Should Help Answer Certain Questions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491425" cy="131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54375" y="152400"/>
            <a:ext cx="1210650" cy="107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5506211" y="1898904"/>
            <a:ext cx="1122445" cy="127101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 txBox="1"/>
          <p:nvPr/>
        </p:nvSpPr>
        <p:spPr>
          <a:xfrm>
            <a:off x="3459226" y="3276600"/>
            <a:ext cx="5487670" cy="1086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ctr">
              <a:lnSpc>
                <a:spcPct val="13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44536A"/>
                </a:solidFill>
                <a:latin typeface="Arial"/>
                <a:ea typeface="Arial"/>
                <a:cs typeface="Arial"/>
                <a:sym typeface="Arial"/>
              </a:rPr>
              <a:t>YOUR COMPANY NAME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43840" rtl="0" algn="ctr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A4A4A4"/>
                </a:solidFill>
                <a:latin typeface="Arial"/>
                <a:ea typeface="Arial"/>
                <a:cs typeface="Arial"/>
                <a:sym typeface="Arial"/>
              </a:rPr>
              <a:t>One-liner description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54375" y="152400"/>
            <a:ext cx="121065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2491425" cy="131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"/>
          <p:cNvSpPr txBox="1"/>
          <p:nvPr/>
        </p:nvSpPr>
        <p:spPr>
          <a:xfrm>
            <a:off x="655319" y="2500691"/>
            <a:ext cx="6821805" cy="1826141"/>
          </a:xfrm>
          <a:prstGeom prst="rect">
            <a:avLst/>
          </a:prstGeom>
          <a:solidFill>
            <a:srgbClr val="EBE6A1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9080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0" marL="32004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Current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issues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0" marL="320040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Unmet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market demand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0" marL="320040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Case study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founders’ experience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0" marL="32004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current solution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doesn’t work?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" name="Google Shape;153;p3"/>
          <p:cNvGrpSpPr/>
          <p:nvPr/>
        </p:nvGrpSpPr>
        <p:grpSpPr>
          <a:xfrm>
            <a:off x="7595870" y="2354924"/>
            <a:ext cx="4098290" cy="2762885"/>
            <a:chOff x="7627620" y="2026920"/>
            <a:chExt cx="4098290" cy="2762885"/>
          </a:xfrm>
        </p:grpSpPr>
        <p:sp>
          <p:nvSpPr>
            <p:cNvPr id="154" name="Google Shape;154;p3"/>
            <p:cNvSpPr/>
            <p:nvPr/>
          </p:nvSpPr>
          <p:spPr>
            <a:xfrm>
              <a:off x="7664196" y="2033016"/>
              <a:ext cx="3550920" cy="262432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7627620" y="2026920"/>
              <a:ext cx="4098290" cy="2762885"/>
            </a:xfrm>
            <a:custGeom>
              <a:rect b="b" l="l" r="r" t="t"/>
              <a:pathLst>
                <a:path extrusionOk="0" h="2762885" w="4098290">
                  <a:moveTo>
                    <a:pt x="4098035" y="0"/>
                  </a:moveTo>
                  <a:lnTo>
                    <a:pt x="0" y="0"/>
                  </a:lnTo>
                  <a:lnTo>
                    <a:pt x="0" y="2473452"/>
                  </a:lnTo>
                  <a:lnTo>
                    <a:pt x="2390521" y="2473452"/>
                  </a:lnTo>
                  <a:lnTo>
                    <a:pt x="3683380" y="2762377"/>
                  </a:lnTo>
                  <a:lnTo>
                    <a:pt x="3415029" y="2473452"/>
                  </a:lnTo>
                  <a:lnTo>
                    <a:pt x="4098035" y="2473452"/>
                  </a:lnTo>
                  <a:lnTo>
                    <a:pt x="409803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3"/>
          <p:cNvSpPr txBox="1"/>
          <p:nvPr/>
        </p:nvSpPr>
        <p:spPr>
          <a:xfrm>
            <a:off x="7888605" y="2668864"/>
            <a:ext cx="3039110" cy="1812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investors think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7" lvl="0" marL="2006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significant is the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98120" marR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7" lvl="0" marL="19812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big is the possible  target market?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 txBox="1"/>
          <p:nvPr>
            <p:ph type="title"/>
          </p:nvPr>
        </p:nvSpPr>
        <p:spPr>
          <a:xfrm>
            <a:off x="755425" y="1224196"/>
            <a:ext cx="8792700" cy="10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62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1800"/>
              <a:buNone/>
            </a:pPr>
            <a:r>
              <a:rPr b="1" lang="en-US" sz="37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Problems</a:t>
            </a:r>
            <a:endParaRPr sz="41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826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1800"/>
              <a:buNone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What are the pain points? Why does it matter to solve this? Is there any existing solution?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1358011" y="5244984"/>
            <a:ext cx="3875404" cy="649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Tips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 how it relevant to the audience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755434" y="5181600"/>
            <a:ext cx="445770" cy="719455"/>
          </a:xfrm>
          <a:custGeom>
            <a:rect b="b" l="l" r="r" t="t"/>
            <a:pathLst>
              <a:path extrusionOk="0" h="719454" w="445769">
                <a:moveTo>
                  <a:pt x="278523" y="667588"/>
                </a:moveTo>
                <a:lnTo>
                  <a:pt x="167106" y="667588"/>
                </a:lnTo>
                <a:lnTo>
                  <a:pt x="172796" y="687882"/>
                </a:lnTo>
                <a:lnTo>
                  <a:pt x="185000" y="704176"/>
                </a:lnTo>
                <a:lnTo>
                  <a:pt x="202184" y="715010"/>
                </a:lnTo>
                <a:lnTo>
                  <a:pt x="222808" y="718934"/>
                </a:lnTo>
                <a:lnTo>
                  <a:pt x="243446" y="715010"/>
                </a:lnTo>
                <a:lnTo>
                  <a:pt x="260629" y="704176"/>
                </a:lnTo>
                <a:lnTo>
                  <a:pt x="272821" y="687882"/>
                </a:lnTo>
                <a:lnTo>
                  <a:pt x="278523" y="667588"/>
                </a:lnTo>
                <a:close/>
              </a:path>
              <a:path extrusionOk="0" h="719454" w="445769">
                <a:moveTo>
                  <a:pt x="334225" y="607669"/>
                </a:moveTo>
                <a:lnTo>
                  <a:pt x="332257" y="597522"/>
                </a:lnTo>
                <a:lnTo>
                  <a:pt x="326834" y="589381"/>
                </a:lnTo>
                <a:lnTo>
                  <a:pt x="318681" y="583958"/>
                </a:lnTo>
                <a:lnTo>
                  <a:pt x="308508" y="582002"/>
                </a:lnTo>
                <a:lnTo>
                  <a:pt x="137121" y="582002"/>
                </a:lnTo>
                <a:lnTo>
                  <a:pt x="126949" y="583958"/>
                </a:lnTo>
                <a:lnTo>
                  <a:pt x="118795" y="589381"/>
                </a:lnTo>
                <a:lnTo>
                  <a:pt x="113372" y="597522"/>
                </a:lnTo>
                <a:lnTo>
                  <a:pt x="111404" y="607669"/>
                </a:lnTo>
                <a:lnTo>
                  <a:pt x="113372" y="617829"/>
                </a:lnTo>
                <a:lnTo>
                  <a:pt x="118795" y="625970"/>
                </a:lnTo>
                <a:lnTo>
                  <a:pt x="126949" y="631380"/>
                </a:lnTo>
                <a:lnTo>
                  <a:pt x="137121" y="633349"/>
                </a:lnTo>
                <a:lnTo>
                  <a:pt x="308508" y="633349"/>
                </a:lnTo>
                <a:lnTo>
                  <a:pt x="318681" y="631380"/>
                </a:lnTo>
                <a:lnTo>
                  <a:pt x="326834" y="625970"/>
                </a:lnTo>
                <a:lnTo>
                  <a:pt x="332257" y="617829"/>
                </a:lnTo>
                <a:lnTo>
                  <a:pt x="334225" y="607669"/>
                </a:lnTo>
                <a:close/>
              </a:path>
              <a:path extrusionOk="0" h="719454" w="445769">
                <a:moveTo>
                  <a:pt x="334225" y="522084"/>
                </a:moveTo>
                <a:lnTo>
                  <a:pt x="332257" y="511937"/>
                </a:lnTo>
                <a:lnTo>
                  <a:pt x="326834" y="503796"/>
                </a:lnTo>
                <a:lnTo>
                  <a:pt x="318681" y="498373"/>
                </a:lnTo>
                <a:lnTo>
                  <a:pt x="308508" y="496404"/>
                </a:lnTo>
                <a:lnTo>
                  <a:pt x="137121" y="496404"/>
                </a:lnTo>
                <a:lnTo>
                  <a:pt x="126949" y="498373"/>
                </a:lnTo>
                <a:lnTo>
                  <a:pt x="118795" y="503796"/>
                </a:lnTo>
                <a:lnTo>
                  <a:pt x="113372" y="511937"/>
                </a:lnTo>
                <a:lnTo>
                  <a:pt x="111404" y="522084"/>
                </a:lnTo>
                <a:lnTo>
                  <a:pt x="113372" y="532231"/>
                </a:lnTo>
                <a:lnTo>
                  <a:pt x="118795" y="540385"/>
                </a:lnTo>
                <a:lnTo>
                  <a:pt x="126949" y="545795"/>
                </a:lnTo>
                <a:lnTo>
                  <a:pt x="137121" y="547763"/>
                </a:lnTo>
                <a:lnTo>
                  <a:pt x="308508" y="547763"/>
                </a:lnTo>
                <a:lnTo>
                  <a:pt x="318681" y="545795"/>
                </a:lnTo>
                <a:lnTo>
                  <a:pt x="326834" y="540385"/>
                </a:lnTo>
                <a:lnTo>
                  <a:pt x="332257" y="532231"/>
                </a:lnTo>
                <a:lnTo>
                  <a:pt x="334225" y="522084"/>
                </a:lnTo>
                <a:close/>
              </a:path>
              <a:path extrusionOk="0" h="719454" w="445769">
                <a:moveTo>
                  <a:pt x="445630" y="219964"/>
                </a:moveTo>
                <a:lnTo>
                  <a:pt x="440309" y="175653"/>
                </a:lnTo>
                <a:lnTo>
                  <a:pt x="426847" y="134442"/>
                </a:lnTo>
                <a:lnTo>
                  <a:pt x="406082" y="97180"/>
                </a:lnTo>
                <a:lnTo>
                  <a:pt x="395071" y="84035"/>
                </a:lnTo>
                <a:lnTo>
                  <a:pt x="395071" y="219964"/>
                </a:lnTo>
                <a:lnTo>
                  <a:pt x="395071" y="226809"/>
                </a:lnTo>
                <a:lnTo>
                  <a:pt x="394208" y="226809"/>
                </a:lnTo>
                <a:lnTo>
                  <a:pt x="392938" y="242189"/>
                </a:lnTo>
                <a:lnTo>
                  <a:pt x="390461" y="257403"/>
                </a:lnTo>
                <a:lnTo>
                  <a:pt x="376580" y="299364"/>
                </a:lnTo>
                <a:lnTo>
                  <a:pt x="353072" y="333794"/>
                </a:lnTo>
                <a:lnTo>
                  <a:pt x="338797" y="352082"/>
                </a:lnTo>
                <a:lnTo>
                  <a:pt x="325653" y="371017"/>
                </a:lnTo>
                <a:lnTo>
                  <a:pt x="313791" y="390601"/>
                </a:lnTo>
                <a:lnTo>
                  <a:pt x="303364" y="410819"/>
                </a:lnTo>
                <a:lnTo>
                  <a:pt x="143116" y="410819"/>
                </a:lnTo>
                <a:lnTo>
                  <a:pt x="120192" y="371017"/>
                </a:lnTo>
                <a:lnTo>
                  <a:pt x="93408" y="333794"/>
                </a:lnTo>
                <a:lnTo>
                  <a:pt x="84759" y="323062"/>
                </a:lnTo>
                <a:lnTo>
                  <a:pt x="76911" y="311543"/>
                </a:lnTo>
                <a:lnTo>
                  <a:pt x="59258" y="272300"/>
                </a:lnTo>
                <a:lnTo>
                  <a:pt x="52336" y="227660"/>
                </a:lnTo>
                <a:lnTo>
                  <a:pt x="52273" y="219964"/>
                </a:lnTo>
                <a:lnTo>
                  <a:pt x="59080" y="175069"/>
                </a:lnTo>
                <a:lnTo>
                  <a:pt x="76708" y="134747"/>
                </a:lnTo>
                <a:lnTo>
                  <a:pt x="103581" y="100558"/>
                </a:lnTo>
                <a:lnTo>
                  <a:pt x="138099" y="74079"/>
                </a:lnTo>
                <a:lnTo>
                  <a:pt x="178663" y="56870"/>
                </a:lnTo>
                <a:lnTo>
                  <a:pt x="223672" y="50495"/>
                </a:lnTo>
                <a:lnTo>
                  <a:pt x="268681" y="56807"/>
                </a:lnTo>
                <a:lnTo>
                  <a:pt x="309245" y="73888"/>
                </a:lnTo>
                <a:lnTo>
                  <a:pt x="343750" y="100241"/>
                </a:lnTo>
                <a:lnTo>
                  <a:pt x="370624" y="134366"/>
                </a:lnTo>
                <a:lnTo>
                  <a:pt x="388264" y="174777"/>
                </a:lnTo>
                <a:lnTo>
                  <a:pt x="395071" y="219964"/>
                </a:lnTo>
                <a:lnTo>
                  <a:pt x="395071" y="84035"/>
                </a:lnTo>
                <a:lnTo>
                  <a:pt x="361492" y="50495"/>
                </a:lnTo>
                <a:lnTo>
                  <a:pt x="308610" y="17640"/>
                </a:lnTo>
                <a:lnTo>
                  <a:pt x="267220" y="4711"/>
                </a:lnTo>
                <a:lnTo>
                  <a:pt x="222808" y="0"/>
                </a:lnTo>
                <a:lnTo>
                  <a:pt x="178409" y="4711"/>
                </a:lnTo>
                <a:lnTo>
                  <a:pt x="137020" y="17640"/>
                </a:lnTo>
                <a:lnTo>
                  <a:pt x="99517" y="37922"/>
                </a:lnTo>
                <a:lnTo>
                  <a:pt x="66738" y="64719"/>
                </a:lnTo>
                <a:lnTo>
                  <a:pt x="39547" y="97180"/>
                </a:lnTo>
                <a:lnTo>
                  <a:pt x="18783" y="134442"/>
                </a:lnTo>
                <a:lnTo>
                  <a:pt x="5321" y="175653"/>
                </a:lnTo>
                <a:lnTo>
                  <a:pt x="0" y="219964"/>
                </a:lnTo>
                <a:lnTo>
                  <a:pt x="0" y="227660"/>
                </a:lnTo>
                <a:lnTo>
                  <a:pt x="4495" y="266814"/>
                </a:lnTo>
                <a:lnTo>
                  <a:pt x="15417" y="304685"/>
                </a:lnTo>
                <a:lnTo>
                  <a:pt x="42418" y="353441"/>
                </a:lnTo>
                <a:lnTo>
                  <a:pt x="53987" y="368020"/>
                </a:lnTo>
                <a:lnTo>
                  <a:pt x="69507" y="388010"/>
                </a:lnTo>
                <a:lnTo>
                  <a:pt x="84302" y="411670"/>
                </a:lnTo>
                <a:lnTo>
                  <a:pt x="97015" y="434708"/>
                </a:lnTo>
                <a:lnTo>
                  <a:pt x="106260" y="452755"/>
                </a:lnTo>
                <a:lnTo>
                  <a:pt x="108839" y="458749"/>
                </a:lnTo>
                <a:lnTo>
                  <a:pt x="114833" y="462178"/>
                </a:lnTo>
                <a:lnTo>
                  <a:pt x="330796" y="462178"/>
                </a:lnTo>
                <a:lnTo>
                  <a:pt x="336791" y="458749"/>
                </a:lnTo>
                <a:lnTo>
                  <a:pt x="339369" y="452755"/>
                </a:lnTo>
                <a:lnTo>
                  <a:pt x="348615" y="434708"/>
                </a:lnTo>
                <a:lnTo>
                  <a:pt x="361327" y="411670"/>
                </a:lnTo>
                <a:lnTo>
                  <a:pt x="361861" y="410819"/>
                </a:lnTo>
                <a:lnTo>
                  <a:pt x="376123" y="388010"/>
                </a:lnTo>
                <a:lnTo>
                  <a:pt x="391642" y="368020"/>
                </a:lnTo>
                <a:lnTo>
                  <a:pt x="403326" y="353441"/>
                </a:lnTo>
                <a:lnTo>
                  <a:pt x="413816" y="337959"/>
                </a:lnTo>
                <a:lnTo>
                  <a:pt x="436473" y="285915"/>
                </a:lnTo>
                <a:lnTo>
                  <a:pt x="444182" y="247396"/>
                </a:lnTo>
                <a:lnTo>
                  <a:pt x="445630" y="227660"/>
                </a:lnTo>
                <a:lnTo>
                  <a:pt x="445630" y="21996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1975" y="0"/>
            <a:ext cx="121065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2491425" cy="131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4"/>
          <p:cNvGrpSpPr/>
          <p:nvPr/>
        </p:nvGrpSpPr>
        <p:grpSpPr>
          <a:xfrm>
            <a:off x="8327745" y="2370824"/>
            <a:ext cx="4098290" cy="2762885"/>
            <a:chOff x="7627620" y="2026920"/>
            <a:chExt cx="4098290" cy="2762885"/>
          </a:xfrm>
        </p:grpSpPr>
        <p:sp>
          <p:nvSpPr>
            <p:cNvPr id="167" name="Google Shape;167;p4"/>
            <p:cNvSpPr/>
            <p:nvPr/>
          </p:nvSpPr>
          <p:spPr>
            <a:xfrm>
              <a:off x="7664196" y="2033016"/>
              <a:ext cx="3550920" cy="262432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7627620" y="2026920"/>
              <a:ext cx="4098290" cy="2762885"/>
            </a:xfrm>
            <a:custGeom>
              <a:rect b="b" l="l" r="r" t="t"/>
              <a:pathLst>
                <a:path extrusionOk="0" h="2762885" w="4098290">
                  <a:moveTo>
                    <a:pt x="4098035" y="0"/>
                  </a:moveTo>
                  <a:lnTo>
                    <a:pt x="0" y="0"/>
                  </a:lnTo>
                  <a:lnTo>
                    <a:pt x="0" y="2473452"/>
                  </a:lnTo>
                  <a:lnTo>
                    <a:pt x="2390521" y="2473452"/>
                  </a:lnTo>
                  <a:lnTo>
                    <a:pt x="3683380" y="2762377"/>
                  </a:lnTo>
                  <a:lnTo>
                    <a:pt x="3415029" y="2473452"/>
                  </a:lnTo>
                  <a:lnTo>
                    <a:pt x="4098035" y="2473452"/>
                  </a:lnTo>
                  <a:lnTo>
                    <a:pt x="409803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4"/>
          <p:cNvSpPr txBox="1"/>
          <p:nvPr/>
        </p:nvSpPr>
        <p:spPr>
          <a:xfrm>
            <a:off x="655319" y="2592634"/>
            <a:ext cx="6821805" cy="1459374"/>
          </a:xfrm>
          <a:prstGeom prst="rect">
            <a:avLst/>
          </a:prstGeom>
          <a:solidFill>
            <a:srgbClr val="EBE6A1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9080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0" marL="32004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your products or services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9235" lvl="0" marL="320040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features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 makes your product stand out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0" marL="320040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journey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shows a brief process on how it works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8630643" y="2796557"/>
            <a:ext cx="3492600" cy="14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investors think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3345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well you address the  problem? Investors want to  check the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product-market  fit.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>
            <p:ph type="title"/>
          </p:nvPr>
        </p:nvSpPr>
        <p:spPr>
          <a:xfrm>
            <a:off x="314000" y="1435525"/>
            <a:ext cx="89976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62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1800"/>
              <a:buNone/>
            </a:pPr>
            <a:r>
              <a:rPr b="1" lang="en-US" sz="40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Solutions</a:t>
            </a:r>
            <a:endParaRPr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What do you do? How does it solve the problem? What makes it different?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1358011" y="4985347"/>
            <a:ext cx="5249545" cy="957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Tips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to showcase product demo/ snapshot and/or  prototype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755434" y="5040708"/>
            <a:ext cx="445770" cy="719455"/>
          </a:xfrm>
          <a:custGeom>
            <a:rect b="b" l="l" r="r" t="t"/>
            <a:pathLst>
              <a:path extrusionOk="0" h="719454" w="445769">
                <a:moveTo>
                  <a:pt x="278523" y="667588"/>
                </a:moveTo>
                <a:lnTo>
                  <a:pt x="167106" y="667588"/>
                </a:lnTo>
                <a:lnTo>
                  <a:pt x="172796" y="687882"/>
                </a:lnTo>
                <a:lnTo>
                  <a:pt x="185000" y="704176"/>
                </a:lnTo>
                <a:lnTo>
                  <a:pt x="202184" y="715010"/>
                </a:lnTo>
                <a:lnTo>
                  <a:pt x="222808" y="718934"/>
                </a:lnTo>
                <a:lnTo>
                  <a:pt x="243446" y="715010"/>
                </a:lnTo>
                <a:lnTo>
                  <a:pt x="260629" y="704176"/>
                </a:lnTo>
                <a:lnTo>
                  <a:pt x="272821" y="687882"/>
                </a:lnTo>
                <a:lnTo>
                  <a:pt x="278523" y="667588"/>
                </a:lnTo>
                <a:close/>
              </a:path>
              <a:path extrusionOk="0" h="719454" w="445769">
                <a:moveTo>
                  <a:pt x="334225" y="607669"/>
                </a:moveTo>
                <a:lnTo>
                  <a:pt x="332257" y="597522"/>
                </a:lnTo>
                <a:lnTo>
                  <a:pt x="326834" y="589381"/>
                </a:lnTo>
                <a:lnTo>
                  <a:pt x="318681" y="583958"/>
                </a:lnTo>
                <a:lnTo>
                  <a:pt x="308508" y="582002"/>
                </a:lnTo>
                <a:lnTo>
                  <a:pt x="137121" y="582002"/>
                </a:lnTo>
                <a:lnTo>
                  <a:pt x="126949" y="583958"/>
                </a:lnTo>
                <a:lnTo>
                  <a:pt x="118795" y="589381"/>
                </a:lnTo>
                <a:lnTo>
                  <a:pt x="113372" y="597522"/>
                </a:lnTo>
                <a:lnTo>
                  <a:pt x="111404" y="607669"/>
                </a:lnTo>
                <a:lnTo>
                  <a:pt x="113372" y="617829"/>
                </a:lnTo>
                <a:lnTo>
                  <a:pt x="118795" y="625970"/>
                </a:lnTo>
                <a:lnTo>
                  <a:pt x="126949" y="631380"/>
                </a:lnTo>
                <a:lnTo>
                  <a:pt x="137121" y="633349"/>
                </a:lnTo>
                <a:lnTo>
                  <a:pt x="308508" y="633349"/>
                </a:lnTo>
                <a:lnTo>
                  <a:pt x="318681" y="631380"/>
                </a:lnTo>
                <a:lnTo>
                  <a:pt x="326834" y="625970"/>
                </a:lnTo>
                <a:lnTo>
                  <a:pt x="332257" y="617829"/>
                </a:lnTo>
                <a:lnTo>
                  <a:pt x="334225" y="607669"/>
                </a:lnTo>
                <a:close/>
              </a:path>
              <a:path extrusionOk="0" h="719454" w="445769">
                <a:moveTo>
                  <a:pt x="334225" y="522084"/>
                </a:moveTo>
                <a:lnTo>
                  <a:pt x="332257" y="511937"/>
                </a:lnTo>
                <a:lnTo>
                  <a:pt x="326834" y="503796"/>
                </a:lnTo>
                <a:lnTo>
                  <a:pt x="318681" y="498373"/>
                </a:lnTo>
                <a:lnTo>
                  <a:pt x="308508" y="496404"/>
                </a:lnTo>
                <a:lnTo>
                  <a:pt x="137121" y="496404"/>
                </a:lnTo>
                <a:lnTo>
                  <a:pt x="126949" y="498373"/>
                </a:lnTo>
                <a:lnTo>
                  <a:pt x="118795" y="503796"/>
                </a:lnTo>
                <a:lnTo>
                  <a:pt x="113372" y="511937"/>
                </a:lnTo>
                <a:lnTo>
                  <a:pt x="111404" y="522084"/>
                </a:lnTo>
                <a:lnTo>
                  <a:pt x="113372" y="532231"/>
                </a:lnTo>
                <a:lnTo>
                  <a:pt x="118795" y="540385"/>
                </a:lnTo>
                <a:lnTo>
                  <a:pt x="126949" y="545795"/>
                </a:lnTo>
                <a:lnTo>
                  <a:pt x="137121" y="547763"/>
                </a:lnTo>
                <a:lnTo>
                  <a:pt x="308508" y="547763"/>
                </a:lnTo>
                <a:lnTo>
                  <a:pt x="318681" y="545795"/>
                </a:lnTo>
                <a:lnTo>
                  <a:pt x="326834" y="540385"/>
                </a:lnTo>
                <a:lnTo>
                  <a:pt x="332257" y="532231"/>
                </a:lnTo>
                <a:lnTo>
                  <a:pt x="334225" y="522084"/>
                </a:lnTo>
                <a:close/>
              </a:path>
              <a:path extrusionOk="0" h="719454" w="445769">
                <a:moveTo>
                  <a:pt x="445630" y="219964"/>
                </a:moveTo>
                <a:lnTo>
                  <a:pt x="440309" y="175653"/>
                </a:lnTo>
                <a:lnTo>
                  <a:pt x="426847" y="134442"/>
                </a:lnTo>
                <a:lnTo>
                  <a:pt x="406082" y="97180"/>
                </a:lnTo>
                <a:lnTo>
                  <a:pt x="395071" y="84035"/>
                </a:lnTo>
                <a:lnTo>
                  <a:pt x="395071" y="219964"/>
                </a:lnTo>
                <a:lnTo>
                  <a:pt x="395071" y="226809"/>
                </a:lnTo>
                <a:lnTo>
                  <a:pt x="394208" y="226809"/>
                </a:lnTo>
                <a:lnTo>
                  <a:pt x="392938" y="242189"/>
                </a:lnTo>
                <a:lnTo>
                  <a:pt x="390461" y="257403"/>
                </a:lnTo>
                <a:lnTo>
                  <a:pt x="376580" y="299364"/>
                </a:lnTo>
                <a:lnTo>
                  <a:pt x="353072" y="333794"/>
                </a:lnTo>
                <a:lnTo>
                  <a:pt x="338797" y="352082"/>
                </a:lnTo>
                <a:lnTo>
                  <a:pt x="325653" y="371017"/>
                </a:lnTo>
                <a:lnTo>
                  <a:pt x="313791" y="390601"/>
                </a:lnTo>
                <a:lnTo>
                  <a:pt x="303364" y="410819"/>
                </a:lnTo>
                <a:lnTo>
                  <a:pt x="143116" y="410819"/>
                </a:lnTo>
                <a:lnTo>
                  <a:pt x="120192" y="371017"/>
                </a:lnTo>
                <a:lnTo>
                  <a:pt x="93408" y="333794"/>
                </a:lnTo>
                <a:lnTo>
                  <a:pt x="84759" y="323062"/>
                </a:lnTo>
                <a:lnTo>
                  <a:pt x="76911" y="311543"/>
                </a:lnTo>
                <a:lnTo>
                  <a:pt x="59258" y="272300"/>
                </a:lnTo>
                <a:lnTo>
                  <a:pt x="52336" y="227660"/>
                </a:lnTo>
                <a:lnTo>
                  <a:pt x="52273" y="219964"/>
                </a:lnTo>
                <a:lnTo>
                  <a:pt x="59080" y="175069"/>
                </a:lnTo>
                <a:lnTo>
                  <a:pt x="76708" y="134747"/>
                </a:lnTo>
                <a:lnTo>
                  <a:pt x="103581" y="100558"/>
                </a:lnTo>
                <a:lnTo>
                  <a:pt x="138099" y="74079"/>
                </a:lnTo>
                <a:lnTo>
                  <a:pt x="178663" y="56870"/>
                </a:lnTo>
                <a:lnTo>
                  <a:pt x="223672" y="50495"/>
                </a:lnTo>
                <a:lnTo>
                  <a:pt x="268681" y="56807"/>
                </a:lnTo>
                <a:lnTo>
                  <a:pt x="309245" y="73888"/>
                </a:lnTo>
                <a:lnTo>
                  <a:pt x="343750" y="100241"/>
                </a:lnTo>
                <a:lnTo>
                  <a:pt x="370624" y="134366"/>
                </a:lnTo>
                <a:lnTo>
                  <a:pt x="388264" y="174777"/>
                </a:lnTo>
                <a:lnTo>
                  <a:pt x="395071" y="219964"/>
                </a:lnTo>
                <a:lnTo>
                  <a:pt x="395071" y="84035"/>
                </a:lnTo>
                <a:lnTo>
                  <a:pt x="361492" y="50495"/>
                </a:lnTo>
                <a:lnTo>
                  <a:pt x="308610" y="17640"/>
                </a:lnTo>
                <a:lnTo>
                  <a:pt x="267220" y="4711"/>
                </a:lnTo>
                <a:lnTo>
                  <a:pt x="222808" y="0"/>
                </a:lnTo>
                <a:lnTo>
                  <a:pt x="178409" y="4711"/>
                </a:lnTo>
                <a:lnTo>
                  <a:pt x="137020" y="17640"/>
                </a:lnTo>
                <a:lnTo>
                  <a:pt x="99517" y="37922"/>
                </a:lnTo>
                <a:lnTo>
                  <a:pt x="66738" y="64719"/>
                </a:lnTo>
                <a:lnTo>
                  <a:pt x="39547" y="97180"/>
                </a:lnTo>
                <a:lnTo>
                  <a:pt x="18783" y="134442"/>
                </a:lnTo>
                <a:lnTo>
                  <a:pt x="5321" y="175653"/>
                </a:lnTo>
                <a:lnTo>
                  <a:pt x="0" y="219964"/>
                </a:lnTo>
                <a:lnTo>
                  <a:pt x="0" y="227660"/>
                </a:lnTo>
                <a:lnTo>
                  <a:pt x="4495" y="266814"/>
                </a:lnTo>
                <a:lnTo>
                  <a:pt x="15417" y="304685"/>
                </a:lnTo>
                <a:lnTo>
                  <a:pt x="42418" y="353441"/>
                </a:lnTo>
                <a:lnTo>
                  <a:pt x="53987" y="368020"/>
                </a:lnTo>
                <a:lnTo>
                  <a:pt x="69507" y="388010"/>
                </a:lnTo>
                <a:lnTo>
                  <a:pt x="84302" y="411670"/>
                </a:lnTo>
                <a:lnTo>
                  <a:pt x="97015" y="434708"/>
                </a:lnTo>
                <a:lnTo>
                  <a:pt x="106260" y="452755"/>
                </a:lnTo>
                <a:lnTo>
                  <a:pt x="108839" y="458749"/>
                </a:lnTo>
                <a:lnTo>
                  <a:pt x="114833" y="462178"/>
                </a:lnTo>
                <a:lnTo>
                  <a:pt x="330796" y="462178"/>
                </a:lnTo>
                <a:lnTo>
                  <a:pt x="336791" y="458749"/>
                </a:lnTo>
                <a:lnTo>
                  <a:pt x="339369" y="452755"/>
                </a:lnTo>
                <a:lnTo>
                  <a:pt x="348615" y="434708"/>
                </a:lnTo>
                <a:lnTo>
                  <a:pt x="361327" y="411670"/>
                </a:lnTo>
                <a:lnTo>
                  <a:pt x="361861" y="410819"/>
                </a:lnTo>
                <a:lnTo>
                  <a:pt x="376123" y="388010"/>
                </a:lnTo>
                <a:lnTo>
                  <a:pt x="391642" y="368020"/>
                </a:lnTo>
                <a:lnTo>
                  <a:pt x="403326" y="353441"/>
                </a:lnTo>
                <a:lnTo>
                  <a:pt x="413816" y="337959"/>
                </a:lnTo>
                <a:lnTo>
                  <a:pt x="436473" y="285915"/>
                </a:lnTo>
                <a:lnTo>
                  <a:pt x="444182" y="247396"/>
                </a:lnTo>
                <a:lnTo>
                  <a:pt x="445630" y="227660"/>
                </a:lnTo>
                <a:lnTo>
                  <a:pt x="445630" y="21996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1975" y="0"/>
            <a:ext cx="121065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2491425" cy="131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5"/>
          <p:cNvGrpSpPr/>
          <p:nvPr/>
        </p:nvGrpSpPr>
        <p:grpSpPr>
          <a:xfrm>
            <a:off x="7627620" y="2354924"/>
            <a:ext cx="4098290" cy="2762885"/>
            <a:chOff x="7627620" y="2026920"/>
            <a:chExt cx="4098290" cy="2762885"/>
          </a:xfrm>
        </p:grpSpPr>
        <p:sp>
          <p:nvSpPr>
            <p:cNvPr id="181" name="Google Shape;181;p5"/>
            <p:cNvSpPr/>
            <p:nvPr/>
          </p:nvSpPr>
          <p:spPr>
            <a:xfrm>
              <a:off x="7664196" y="2033016"/>
              <a:ext cx="3550920" cy="262432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7627620" y="2026920"/>
              <a:ext cx="4098290" cy="2762885"/>
            </a:xfrm>
            <a:custGeom>
              <a:rect b="b" l="l" r="r" t="t"/>
              <a:pathLst>
                <a:path extrusionOk="0" h="2762885" w="4098290">
                  <a:moveTo>
                    <a:pt x="4098035" y="0"/>
                  </a:moveTo>
                  <a:lnTo>
                    <a:pt x="0" y="0"/>
                  </a:lnTo>
                  <a:lnTo>
                    <a:pt x="0" y="2473452"/>
                  </a:lnTo>
                  <a:lnTo>
                    <a:pt x="2390521" y="2473452"/>
                  </a:lnTo>
                  <a:lnTo>
                    <a:pt x="3683380" y="2762377"/>
                  </a:lnTo>
                  <a:lnTo>
                    <a:pt x="3415029" y="2473452"/>
                  </a:lnTo>
                  <a:lnTo>
                    <a:pt x="4098035" y="2473452"/>
                  </a:lnTo>
                  <a:lnTo>
                    <a:pt x="409803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5"/>
          <p:cNvSpPr txBox="1"/>
          <p:nvPr/>
        </p:nvSpPr>
        <p:spPr>
          <a:xfrm>
            <a:off x="473119" y="2869369"/>
            <a:ext cx="6821700" cy="1536000"/>
          </a:xfrm>
          <a:prstGeom prst="rect">
            <a:avLst/>
          </a:prstGeom>
          <a:solidFill>
            <a:srgbClr val="EBE6A1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9080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0" marL="32004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Users vs customers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0" marL="320040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their profile?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0" marL="320040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cannot target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everyone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7888605" y="2869381"/>
            <a:ext cx="3599179" cy="1120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investors think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the market  opportunity? Is it going to be  big?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 txBox="1"/>
          <p:nvPr>
            <p:ph type="title"/>
          </p:nvPr>
        </p:nvSpPr>
        <p:spPr>
          <a:xfrm>
            <a:off x="473125" y="1615175"/>
            <a:ext cx="91407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62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1800"/>
              <a:buNone/>
            </a:pPr>
            <a:r>
              <a:rPr b="1" lang="en-US" sz="40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Target Customers</a:t>
            </a:r>
            <a:br>
              <a:rPr lang="en-US" sz="40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Who will buy your products/services?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1358011" y="5244984"/>
            <a:ext cx="3888740" cy="649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Tips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 customer persona if it helps!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755434" y="5181600"/>
            <a:ext cx="445770" cy="719455"/>
          </a:xfrm>
          <a:custGeom>
            <a:rect b="b" l="l" r="r" t="t"/>
            <a:pathLst>
              <a:path extrusionOk="0" h="719454" w="445769">
                <a:moveTo>
                  <a:pt x="278523" y="667588"/>
                </a:moveTo>
                <a:lnTo>
                  <a:pt x="167106" y="667588"/>
                </a:lnTo>
                <a:lnTo>
                  <a:pt x="172796" y="687882"/>
                </a:lnTo>
                <a:lnTo>
                  <a:pt x="185000" y="704176"/>
                </a:lnTo>
                <a:lnTo>
                  <a:pt x="202184" y="715010"/>
                </a:lnTo>
                <a:lnTo>
                  <a:pt x="222808" y="718934"/>
                </a:lnTo>
                <a:lnTo>
                  <a:pt x="243446" y="715010"/>
                </a:lnTo>
                <a:lnTo>
                  <a:pt x="260629" y="704176"/>
                </a:lnTo>
                <a:lnTo>
                  <a:pt x="272821" y="687882"/>
                </a:lnTo>
                <a:lnTo>
                  <a:pt x="278523" y="667588"/>
                </a:lnTo>
                <a:close/>
              </a:path>
              <a:path extrusionOk="0" h="719454" w="445769">
                <a:moveTo>
                  <a:pt x="334225" y="607669"/>
                </a:moveTo>
                <a:lnTo>
                  <a:pt x="332257" y="597522"/>
                </a:lnTo>
                <a:lnTo>
                  <a:pt x="326834" y="589381"/>
                </a:lnTo>
                <a:lnTo>
                  <a:pt x="318681" y="583958"/>
                </a:lnTo>
                <a:lnTo>
                  <a:pt x="308508" y="582002"/>
                </a:lnTo>
                <a:lnTo>
                  <a:pt x="137121" y="582002"/>
                </a:lnTo>
                <a:lnTo>
                  <a:pt x="126949" y="583958"/>
                </a:lnTo>
                <a:lnTo>
                  <a:pt x="118795" y="589381"/>
                </a:lnTo>
                <a:lnTo>
                  <a:pt x="113372" y="597522"/>
                </a:lnTo>
                <a:lnTo>
                  <a:pt x="111404" y="607669"/>
                </a:lnTo>
                <a:lnTo>
                  <a:pt x="113372" y="617829"/>
                </a:lnTo>
                <a:lnTo>
                  <a:pt x="118795" y="625970"/>
                </a:lnTo>
                <a:lnTo>
                  <a:pt x="126949" y="631380"/>
                </a:lnTo>
                <a:lnTo>
                  <a:pt x="137121" y="633349"/>
                </a:lnTo>
                <a:lnTo>
                  <a:pt x="308508" y="633349"/>
                </a:lnTo>
                <a:lnTo>
                  <a:pt x="318681" y="631380"/>
                </a:lnTo>
                <a:lnTo>
                  <a:pt x="326834" y="625970"/>
                </a:lnTo>
                <a:lnTo>
                  <a:pt x="332257" y="617829"/>
                </a:lnTo>
                <a:lnTo>
                  <a:pt x="334225" y="607669"/>
                </a:lnTo>
                <a:close/>
              </a:path>
              <a:path extrusionOk="0" h="719454" w="445769">
                <a:moveTo>
                  <a:pt x="334225" y="522084"/>
                </a:moveTo>
                <a:lnTo>
                  <a:pt x="332257" y="511937"/>
                </a:lnTo>
                <a:lnTo>
                  <a:pt x="326834" y="503796"/>
                </a:lnTo>
                <a:lnTo>
                  <a:pt x="318681" y="498373"/>
                </a:lnTo>
                <a:lnTo>
                  <a:pt x="308508" y="496404"/>
                </a:lnTo>
                <a:lnTo>
                  <a:pt x="137121" y="496404"/>
                </a:lnTo>
                <a:lnTo>
                  <a:pt x="126949" y="498373"/>
                </a:lnTo>
                <a:lnTo>
                  <a:pt x="118795" y="503796"/>
                </a:lnTo>
                <a:lnTo>
                  <a:pt x="113372" y="511937"/>
                </a:lnTo>
                <a:lnTo>
                  <a:pt x="111404" y="522084"/>
                </a:lnTo>
                <a:lnTo>
                  <a:pt x="113372" y="532231"/>
                </a:lnTo>
                <a:lnTo>
                  <a:pt x="118795" y="540385"/>
                </a:lnTo>
                <a:lnTo>
                  <a:pt x="126949" y="545795"/>
                </a:lnTo>
                <a:lnTo>
                  <a:pt x="137121" y="547763"/>
                </a:lnTo>
                <a:lnTo>
                  <a:pt x="308508" y="547763"/>
                </a:lnTo>
                <a:lnTo>
                  <a:pt x="318681" y="545795"/>
                </a:lnTo>
                <a:lnTo>
                  <a:pt x="326834" y="540385"/>
                </a:lnTo>
                <a:lnTo>
                  <a:pt x="332257" y="532231"/>
                </a:lnTo>
                <a:lnTo>
                  <a:pt x="334225" y="522084"/>
                </a:lnTo>
                <a:close/>
              </a:path>
              <a:path extrusionOk="0" h="719454" w="445769">
                <a:moveTo>
                  <a:pt x="445630" y="219964"/>
                </a:moveTo>
                <a:lnTo>
                  <a:pt x="440309" y="175653"/>
                </a:lnTo>
                <a:lnTo>
                  <a:pt x="426847" y="134442"/>
                </a:lnTo>
                <a:lnTo>
                  <a:pt x="406082" y="97180"/>
                </a:lnTo>
                <a:lnTo>
                  <a:pt x="395071" y="84035"/>
                </a:lnTo>
                <a:lnTo>
                  <a:pt x="395071" y="219964"/>
                </a:lnTo>
                <a:lnTo>
                  <a:pt x="395071" y="226809"/>
                </a:lnTo>
                <a:lnTo>
                  <a:pt x="394208" y="226809"/>
                </a:lnTo>
                <a:lnTo>
                  <a:pt x="392938" y="242189"/>
                </a:lnTo>
                <a:lnTo>
                  <a:pt x="390461" y="257403"/>
                </a:lnTo>
                <a:lnTo>
                  <a:pt x="376580" y="299364"/>
                </a:lnTo>
                <a:lnTo>
                  <a:pt x="353072" y="333794"/>
                </a:lnTo>
                <a:lnTo>
                  <a:pt x="338797" y="352082"/>
                </a:lnTo>
                <a:lnTo>
                  <a:pt x="325653" y="371017"/>
                </a:lnTo>
                <a:lnTo>
                  <a:pt x="313791" y="390601"/>
                </a:lnTo>
                <a:lnTo>
                  <a:pt x="303364" y="410819"/>
                </a:lnTo>
                <a:lnTo>
                  <a:pt x="143116" y="410819"/>
                </a:lnTo>
                <a:lnTo>
                  <a:pt x="120192" y="371017"/>
                </a:lnTo>
                <a:lnTo>
                  <a:pt x="93408" y="333794"/>
                </a:lnTo>
                <a:lnTo>
                  <a:pt x="84759" y="323062"/>
                </a:lnTo>
                <a:lnTo>
                  <a:pt x="76911" y="311543"/>
                </a:lnTo>
                <a:lnTo>
                  <a:pt x="59258" y="272300"/>
                </a:lnTo>
                <a:lnTo>
                  <a:pt x="52336" y="227660"/>
                </a:lnTo>
                <a:lnTo>
                  <a:pt x="52273" y="219964"/>
                </a:lnTo>
                <a:lnTo>
                  <a:pt x="59080" y="175069"/>
                </a:lnTo>
                <a:lnTo>
                  <a:pt x="76708" y="134747"/>
                </a:lnTo>
                <a:lnTo>
                  <a:pt x="103581" y="100558"/>
                </a:lnTo>
                <a:lnTo>
                  <a:pt x="138099" y="74079"/>
                </a:lnTo>
                <a:lnTo>
                  <a:pt x="178663" y="56870"/>
                </a:lnTo>
                <a:lnTo>
                  <a:pt x="223672" y="50495"/>
                </a:lnTo>
                <a:lnTo>
                  <a:pt x="268681" y="56807"/>
                </a:lnTo>
                <a:lnTo>
                  <a:pt x="309245" y="73888"/>
                </a:lnTo>
                <a:lnTo>
                  <a:pt x="343750" y="100241"/>
                </a:lnTo>
                <a:lnTo>
                  <a:pt x="370624" y="134366"/>
                </a:lnTo>
                <a:lnTo>
                  <a:pt x="388264" y="174777"/>
                </a:lnTo>
                <a:lnTo>
                  <a:pt x="395071" y="219964"/>
                </a:lnTo>
                <a:lnTo>
                  <a:pt x="395071" y="84035"/>
                </a:lnTo>
                <a:lnTo>
                  <a:pt x="361492" y="50495"/>
                </a:lnTo>
                <a:lnTo>
                  <a:pt x="308610" y="17640"/>
                </a:lnTo>
                <a:lnTo>
                  <a:pt x="267220" y="4711"/>
                </a:lnTo>
                <a:lnTo>
                  <a:pt x="222808" y="0"/>
                </a:lnTo>
                <a:lnTo>
                  <a:pt x="178409" y="4711"/>
                </a:lnTo>
                <a:lnTo>
                  <a:pt x="137020" y="17640"/>
                </a:lnTo>
                <a:lnTo>
                  <a:pt x="99517" y="37922"/>
                </a:lnTo>
                <a:lnTo>
                  <a:pt x="66738" y="64719"/>
                </a:lnTo>
                <a:lnTo>
                  <a:pt x="39547" y="97180"/>
                </a:lnTo>
                <a:lnTo>
                  <a:pt x="18783" y="134442"/>
                </a:lnTo>
                <a:lnTo>
                  <a:pt x="5321" y="175653"/>
                </a:lnTo>
                <a:lnTo>
                  <a:pt x="0" y="219964"/>
                </a:lnTo>
                <a:lnTo>
                  <a:pt x="0" y="227660"/>
                </a:lnTo>
                <a:lnTo>
                  <a:pt x="4495" y="266814"/>
                </a:lnTo>
                <a:lnTo>
                  <a:pt x="15417" y="304685"/>
                </a:lnTo>
                <a:lnTo>
                  <a:pt x="42418" y="353441"/>
                </a:lnTo>
                <a:lnTo>
                  <a:pt x="53987" y="368020"/>
                </a:lnTo>
                <a:lnTo>
                  <a:pt x="69507" y="388010"/>
                </a:lnTo>
                <a:lnTo>
                  <a:pt x="84302" y="411670"/>
                </a:lnTo>
                <a:lnTo>
                  <a:pt x="97015" y="434708"/>
                </a:lnTo>
                <a:lnTo>
                  <a:pt x="106260" y="452755"/>
                </a:lnTo>
                <a:lnTo>
                  <a:pt x="108839" y="458749"/>
                </a:lnTo>
                <a:lnTo>
                  <a:pt x="114833" y="462178"/>
                </a:lnTo>
                <a:lnTo>
                  <a:pt x="330796" y="462178"/>
                </a:lnTo>
                <a:lnTo>
                  <a:pt x="336791" y="458749"/>
                </a:lnTo>
                <a:lnTo>
                  <a:pt x="339369" y="452755"/>
                </a:lnTo>
                <a:lnTo>
                  <a:pt x="348615" y="434708"/>
                </a:lnTo>
                <a:lnTo>
                  <a:pt x="361327" y="411670"/>
                </a:lnTo>
                <a:lnTo>
                  <a:pt x="361861" y="410819"/>
                </a:lnTo>
                <a:lnTo>
                  <a:pt x="376123" y="388010"/>
                </a:lnTo>
                <a:lnTo>
                  <a:pt x="391642" y="368020"/>
                </a:lnTo>
                <a:lnTo>
                  <a:pt x="403326" y="353441"/>
                </a:lnTo>
                <a:lnTo>
                  <a:pt x="413816" y="337959"/>
                </a:lnTo>
                <a:lnTo>
                  <a:pt x="436473" y="285915"/>
                </a:lnTo>
                <a:lnTo>
                  <a:pt x="444182" y="247396"/>
                </a:lnTo>
                <a:lnTo>
                  <a:pt x="445630" y="227660"/>
                </a:lnTo>
                <a:lnTo>
                  <a:pt x="445630" y="21996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1975" y="0"/>
            <a:ext cx="121065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2491425" cy="131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6"/>
          <p:cNvGrpSpPr/>
          <p:nvPr/>
        </p:nvGrpSpPr>
        <p:grpSpPr>
          <a:xfrm>
            <a:off x="7627620" y="2354924"/>
            <a:ext cx="4098290" cy="2762885"/>
            <a:chOff x="7627620" y="2026920"/>
            <a:chExt cx="4098290" cy="2762885"/>
          </a:xfrm>
        </p:grpSpPr>
        <p:sp>
          <p:nvSpPr>
            <p:cNvPr id="195" name="Google Shape;195;p6"/>
            <p:cNvSpPr/>
            <p:nvPr/>
          </p:nvSpPr>
          <p:spPr>
            <a:xfrm>
              <a:off x="7664196" y="2033016"/>
              <a:ext cx="3550920" cy="262432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7627620" y="2026920"/>
              <a:ext cx="4098290" cy="2762885"/>
            </a:xfrm>
            <a:custGeom>
              <a:rect b="b" l="l" r="r" t="t"/>
              <a:pathLst>
                <a:path extrusionOk="0" h="2762885" w="4098290">
                  <a:moveTo>
                    <a:pt x="4098035" y="0"/>
                  </a:moveTo>
                  <a:lnTo>
                    <a:pt x="0" y="0"/>
                  </a:lnTo>
                  <a:lnTo>
                    <a:pt x="0" y="2473452"/>
                  </a:lnTo>
                  <a:lnTo>
                    <a:pt x="2390521" y="2473452"/>
                  </a:lnTo>
                  <a:lnTo>
                    <a:pt x="3683380" y="2762377"/>
                  </a:lnTo>
                  <a:lnTo>
                    <a:pt x="3415029" y="2473452"/>
                  </a:lnTo>
                  <a:lnTo>
                    <a:pt x="4098035" y="2473452"/>
                  </a:lnTo>
                  <a:lnTo>
                    <a:pt x="409803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6"/>
          <p:cNvSpPr txBox="1"/>
          <p:nvPr/>
        </p:nvSpPr>
        <p:spPr>
          <a:xfrm>
            <a:off x="655319" y="2784991"/>
            <a:ext cx="6821700" cy="2274900"/>
          </a:xfrm>
          <a:prstGeom prst="rect">
            <a:avLst/>
          </a:prstGeom>
          <a:solidFill>
            <a:srgbClr val="EBE6A1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9080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0" marL="32004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Market volume: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4320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Number of target customers × Penetration rate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TAM, SAM, SOM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0" marL="320040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Market value: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941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Market volume × Average value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7888605" y="2966179"/>
            <a:ext cx="3011170" cy="843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investors think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big is your market?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 txBox="1"/>
          <p:nvPr>
            <p:ph type="title"/>
          </p:nvPr>
        </p:nvSpPr>
        <p:spPr>
          <a:xfrm>
            <a:off x="384175" y="1588329"/>
            <a:ext cx="99777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62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1800"/>
              <a:buNone/>
            </a:pPr>
            <a:r>
              <a:rPr b="1" lang="en-US" sz="40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Market Sizing</a:t>
            </a:r>
            <a:br>
              <a:rPr lang="en-US" sz="40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How big is the market opportunity?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1357946" y="5168775"/>
            <a:ext cx="8213400" cy="9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Tips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is a key!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https://www.thebusinessplanshop.com/blog/en/entry/tam_sam_som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755434" y="5257800"/>
            <a:ext cx="445770" cy="719455"/>
          </a:xfrm>
          <a:custGeom>
            <a:rect b="b" l="l" r="r" t="t"/>
            <a:pathLst>
              <a:path extrusionOk="0" h="719454" w="445769">
                <a:moveTo>
                  <a:pt x="278523" y="667588"/>
                </a:moveTo>
                <a:lnTo>
                  <a:pt x="167106" y="667588"/>
                </a:lnTo>
                <a:lnTo>
                  <a:pt x="172796" y="687882"/>
                </a:lnTo>
                <a:lnTo>
                  <a:pt x="185000" y="704176"/>
                </a:lnTo>
                <a:lnTo>
                  <a:pt x="202184" y="715010"/>
                </a:lnTo>
                <a:lnTo>
                  <a:pt x="222808" y="718934"/>
                </a:lnTo>
                <a:lnTo>
                  <a:pt x="243446" y="715010"/>
                </a:lnTo>
                <a:lnTo>
                  <a:pt x="260629" y="704176"/>
                </a:lnTo>
                <a:lnTo>
                  <a:pt x="272821" y="687882"/>
                </a:lnTo>
                <a:lnTo>
                  <a:pt x="278523" y="667588"/>
                </a:lnTo>
                <a:close/>
              </a:path>
              <a:path extrusionOk="0" h="719454" w="445769">
                <a:moveTo>
                  <a:pt x="334225" y="607669"/>
                </a:moveTo>
                <a:lnTo>
                  <a:pt x="332257" y="597522"/>
                </a:lnTo>
                <a:lnTo>
                  <a:pt x="326834" y="589381"/>
                </a:lnTo>
                <a:lnTo>
                  <a:pt x="318681" y="583958"/>
                </a:lnTo>
                <a:lnTo>
                  <a:pt x="308508" y="582002"/>
                </a:lnTo>
                <a:lnTo>
                  <a:pt x="137121" y="582002"/>
                </a:lnTo>
                <a:lnTo>
                  <a:pt x="126949" y="583958"/>
                </a:lnTo>
                <a:lnTo>
                  <a:pt x="118795" y="589381"/>
                </a:lnTo>
                <a:lnTo>
                  <a:pt x="113372" y="597522"/>
                </a:lnTo>
                <a:lnTo>
                  <a:pt x="111404" y="607669"/>
                </a:lnTo>
                <a:lnTo>
                  <a:pt x="113372" y="617829"/>
                </a:lnTo>
                <a:lnTo>
                  <a:pt x="118795" y="625970"/>
                </a:lnTo>
                <a:lnTo>
                  <a:pt x="126949" y="631380"/>
                </a:lnTo>
                <a:lnTo>
                  <a:pt x="137121" y="633349"/>
                </a:lnTo>
                <a:lnTo>
                  <a:pt x="308508" y="633349"/>
                </a:lnTo>
                <a:lnTo>
                  <a:pt x="318681" y="631380"/>
                </a:lnTo>
                <a:lnTo>
                  <a:pt x="326834" y="625970"/>
                </a:lnTo>
                <a:lnTo>
                  <a:pt x="332257" y="617829"/>
                </a:lnTo>
                <a:lnTo>
                  <a:pt x="334225" y="607669"/>
                </a:lnTo>
                <a:close/>
              </a:path>
              <a:path extrusionOk="0" h="719454" w="445769">
                <a:moveTo>
                  <a:pt x="334225" y="522084"/>
                </a:moveTo>
                <a:lnTo>
                  <a:pt x="332257" y="511937"/>
                </a:lnTo>
                <a:lnTo>
                  <a:pt x="326834" y="503796"/>
                </a:lnTo>
                <a:lnTo>
                  <a:pt x="318681" y="498373"/>
                </a:lnTo>
                <a:lnTo>
                  <a:pt x="308508" y="496404"/>
                </a:lnTo>
                <a:lnTo>
                  <a:pt x="137121" y="496404"/>
                </a:lnTo>
                <a:lnTo>
                  <a:pt x="126949" y="498373"/>
                </a:lnTo>
                <a:lnTo>
                  <a:pt x="118795" y="503796"/>
                </a:lnTo>
                <a:lnTo>
                  <a:pt x="113372" y="511937"/>
                </a:lnTo>
                <a:lnTo>
                  <a:pt x="111404" y="522084"/>
                </a:lnTo>
                <a:lnTo>
                  <a:pt x="113372" y="532231"/>
                </a:lnTo>
                <a:lnTo>
                  <a:pt x="118795" y="540385"/>
                </a:lnTo>
                <a:lnTo>
                  <a:pt x="126949" y="545795"/>
                </a:lnTo>
                <a:lnTo>
                  <a:pt x="137121" y="547763"/>
                </a:lnTo>
                <a:lnTo>
                  <a:pt x="308508" y="547763"/>
                </a:lnTo>
                <a:lnTo>
                  <a:pt x="318681" y="545795"/>
                </a:lnTo>
                <a:lnTo>
                  <a:pt x="326834" y="540385"/>
                </a:lnTo>
                <a:lnTo>
                  <a:pt x="332257" y="532231"/>
                </a:lnTo>
                <a:lnTo>
                  <a:pt x="334225" y="522084"/>
                </a:lnTo>
                <a:close/>
              </a:path>
              <a:path extrusionOk="0" h="719454" w="445769">
                <a:moveTo>
                  <a:pt x="445630" y="219964"/>
                </a:moveTo>
                <a:lnTo>
                  <a:pt x="440309" y="175653"/>
                </a:lnTo>
                <a:lnTo>
                  <a:pt x="426847" y="134442"/>
                </a:lnTo>
                <a:lnTo>
                  <a:pt x="406082" y="97180"/>
                </a:lnTo>
                <a:lnTo>
                  <a:pt x="395071" y="84035"/>
                </a:lnTo>
                <a:lnTo>
                  <a:pt x="395071" y="219964"/>
                </a:lnTo>
                <a:lnTo>
                  <a:pt x="395071" y="226809"/>
                </a:lnTo>
                <a:lnTo>
                  <a:pt x="394208" y="226809"/>
                </a:lnTo>
                <a:lnTo>
                  <a:pt x="392938" y="242189"/>
                </a:lnTo>
                <a:lnTo>
                  <a:pt x="390461" y="257403"/>
                </a:lnTo>
                <a:lnTo>
                  <a:pt x="376580" y="299364"/>
                </a:lnTo>
                <a:lnTo>
                  <a:pt x="353072" y="333794"/>
                </a:lnTo>
                <a:lnTo>
                  <a:pt x="338797" y="352082"/>
                </a:lnTo>
                <a:lnTo>
                  <a:pt x="325653" y="371017"/>
                </a:lnTo>
                <a:lnTo>
                  <a:pt x="313791" y="390601"/>
                </a:lnTo>
                <a:lnTo>
                  <a:pt x="303364" y="410819"/>
                </a:lnTo>
                <a:lnTo>
                  <a:pt x="143116" y="410819"/>
                </a:lnTo>
                <a:lnTo>
                  <a:pt x="120192" y="371017"/>
                </a:lnTo>
                <a:lnTo>
                  <a:pt x="93408" y="333794"/>
                </a:lnTo>
                <a:lnTo>
                  <a:pt x="84759" y="323062"/>
                </a:lnTo>
                <a:lnTo>
                  <a:pt x="76911" y="311543"/>
                </a:lnTo>
                <a:lnTo>
                  <a:pt x="59258" y="272300"/>
                </a:lnTo>
                <a:lnTo>
                  <a:pt x="52336" y="227660"/>
                </a:lnTo>
                <a:lnTo>
                  <a:pt x="52273" y="219964"/>
                </a:lnTo>
                <a:lnTo>
                  <a:pt x="59080" y="175069"/>
                </a:lnTo>
                <a:lnTo>
                  <a:pt x="76708" y="134747"/>
                </a:lnTo>
                <a:lnTo>
                  <a:pt x="103581" y="100558"/>
                </a:lnTo>
                <a:lnTo>
                  <a:pt x="138099" y="74079"/>
                </a:lnTo>
                <a:lnTo>
                  <a:pt x="178663" y="56870"/>
                </a:lnTo>
                <a:lnTo>
                  <a:pt x="223672" y="50495"/>
                </a:lnTo>
                <a:lnTo>
                  <a:pt x="268681" y="56807"/>
                </a:lnTo>
                <a:lnTo>
                  <a:pt x="309245" y="73888"/>
                </a:lnTo>
                <a:lnTo>
                  <a:pt x="343750" y="100241"/>
                </a:lnTo>
                <a:lnTo>
                  <a:pt x="370624" y="134366"/>
                </a:lnTo>
                <a:lnTo>
                  <a:pt x="388264" y="174777"/>
                </a:lnTo>
                <a:lnTo>
                  <a:pt x="395071" y="219964"/>
                </a:lnTo>
                <a:lnTo>
                  <a:pt x="395071" y="84035"/>
                </a:lnTo>
                <a:lnTo>
                  <a:pt x="361492" y="50495"/>
                </a:lnTo>
                <a:lnTo>
                  <a:pt x="308610" y="17640"/>
                </a:lnTo>
                <a:lnTo>
                  <a:pt x="267220" y="4711"/>
                </a:lnTo>
                <a:lnTo>
                  <a:pt x="222808" y="0"/>
                </a:lnTo>
                <a:lnTo>
                  <a:pt x="178409" y="4711"/>
                </a:lnTo>
                <a:lnTo>
                  <a:pt x="137020" y="17640"/>
                </a:lnTo>
                <a:lnTo>
                  <a:pt x="99517" y="37922"/>
                </a:lnTo>
                <a:lnTo>
                  <a:pt x="66738" y="64719"/>
                </a:lnTo>
                <a:lnTo>
                  <a:pt x="39547" y="97180"/>
                </a:lnTo>
                <a:lnTo>
                  <a:pt x="18783" y="134442"/>
                </a:lnTo>
                <a:lnTo>
                  <a:pt x="5321" y="175653"/>
                </a:lnTo>
                <a:lnTo>
                  <a:pt x="0" y="219964"/>
                </a:lnTo>
                <a:lnTo>
                  <a:pt x="0" y="227660"/>
                </a:lnTo>
                <a:lnTo>
                  <a:pt x="4495" y="266814"/>
                </a:lnTo>
                <a:lnTo>
                  <a:pt x="15417" y="304685"/>
                </a:lnTo>
                <a:lnTo>
                  <a:pt x="42418" y="353441"/>
                </a:lnTo>
                <a:lnTo>
                  <a:pt x="53987" y="368020"/>
                </a:lnTo>
                <a:lnTo>
                  <a:pt x="69507" y="388010"/>
                </a:lnTo>
                <a:lnTo>
                  <a:pt x="84302" y="411670"/>
                </a:lnTo>
                <a:lnTo>
                  <a:pt x="97015" y="434708"/>
                </a:lnTo>
                <a:lnTo>
                  <a:pt x="106260" y="452755"/>
                </a:lnTo>
                <a:lnTo>
                  <a:pt x="108839" y="458749"/>
                </a:lnTo>
                <a:lnTo>
                  <a:pt x="114833" y="462178"/>
                </a:lnTo>
                <a:lnTo>
                  <a:pt x="330796" y="462178"/>
                </a:lnTo>
                <a:lnTo>
                  <a:pt x="336791" y="458749"/>
                </a:lnTo>
                <a:lnTo>
                  <a:pt x="339369" y="452755"/>
                </a:lnTo>
                <a:lnTo>
                  <a:pt x="348615" y="434708"/>
                </a:lnTo>
                <a:lnTo>
                  <a:pt x="361327" y="411670"/>
                </a:lnTo>
                <a:lnTo>
                  <a:pt x="361861" y="410819"/>
                </a:lnTo>
                <a:lnTo>
                  <a:pt x="376123" y="388010"/>
                </a:lnTo>
                <a:lnTo>
                  <a:pt x="391642" y="368020"/>
                </a:lnTo>
                <a:lnTo>
                  <a:pt x="403326" y="353441"/>
                </a:lnTo>
                <a:lnTo>
                  <a:pt x="413816" y="337959"/>
                </a:lnTo>
                <a:lnTo>
                  <a:pt x="436473" y="285915"/>
                </a:lnTo>
                <a:lnTo>
                  <a:pt x="444182" y="247396"/>
                </a:lnTo>
                <a:lnTo>
                  <a:pt x="445630" y="227660"/>
                </a:lnTo>
                <a:lnTo>
                  <a:pt x="445630" y="21996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01975" y="0"/>
            <a:ext cx="121065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0"/>
            <a:ext cx="2491425" cy="131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7"/>
          <p:cNvGrpSpPr/>
          <p:nvPr/>
        </p:nvGrpSpPr>
        <p:grpSpPr>
          <a:xfrm>
            <a:off x="7627620" y="2354924"/>
            <a:ext cx="4098290" cy="2762885"/>
            <a:chOff x="7627620" y="2026920"/>
            <a:chExt cx="4098290" cy="2762885"/>
          </a:xfrm>
        </p:grpSpPr>
        <p:sp>
          <p:nvSpPr>
            <p:cNvPr id="209" name="Google Shape;209;p7"/>
            <p:cNvSpPr/>
            <p:nvPr/>
          </p:nvSpPr>
          <p:spPr>
            <a:xfrm>
              <a:off x="7664196" y="2033016"/>
              <a:ext cx="3550920" cy="262432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7627620" y="2026920"/>
              <a:ext cx="4098290" cy="2762885"/>
            </a:xfrm>
            <a:custGeom>
              <a:rect b="b" l="l" r="r" t="t"/>
              <a:pathLst>
                <a:path extrusionOk="0" h="2762885" w="4098290">
                  <a:moveTo>
                    <a:pt x="4098035" y="0"/>
                  </a:moveTo>
                  <a:lnTo>
                    <a:pt x="0" y="0"/>
                  </a:lnTo>
                  <a:lnTo>
                    <a:pt x="0" y="2473452"/>
                  </a:lnTo>
                  <a:lnTo>
                    <a:pt x="2390521" y="2473452"/>
                  </a:lnTo>
                  <a:lnTo>
                    <a:pt x="3683380" y="2762377"/>
                  </a:lnTo>
                  <a:lnTo>
                    <a:pt x="3415029" y="2473452"/>
                  </a:lnTo>
                  <a:lnTo>
                    <a:pt x="4098035" y="2473452"/>
                  </a:lnTo>
                  <a:lnTo>
                    <a:pt x="409803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7"/>
          <p:cNvSpPr txBox="1"/>
          <p:nvPr/>
        </p:nvSpPr>
        <p:spPr>
          <a:xfrm>
            <a:off x="655319" y="2826375"/>
            <a:ext cx="6821700" cy="2100900"/>
          </a:xfrm>
          <a:prstGeom prst="rect">
            <a:avLst/>
          </a:prstGeom>
          <a:solidFill>
            <a:srgbClr val="EBE6A1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9080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5" lvl="0" marL="32004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 competitors vs potential competitors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5" lvl="0" marL="320040" marR="0" rtl="0" algn="l">
              <a:lnSpc>
                <a:spcPct val="151944"/>
              </a:lnSpc>
              <a:spcBef>
                <a:spcPts val="70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Potential competitors: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those who might jump into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19405" marR="0" rtl="0" algn="l">
              <a:lnSpc>
                <a:spcPct val="151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your market in future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5" lvl="0" marL="320040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are you going to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win the competition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7888605" y="2744783"/>
            <a:ext cx="3541395" cy="1674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investors think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334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VCs are attracted in mass and  lifestyle business but not  really in niche.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33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Angels are more open.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 txBox="1"/>
          <p:nvPr>
            <p:ph type="title"/>
          </p:nvPr>
        </p:nvSpPr>
        <p:spPr>
          <a:xfrm>
            <a:off x="386375" y="1607587"/>
            <a:ext cx="105156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62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1800"/>
              <a:buNone/>
            </a:pPr>
            <a:r>
              <a:rPr b="1" lang="en-US" sz="40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Competition Landscape</a:t>
            </a:r>
            <a:br>
              <a:rPr lang="en-US" sz="40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How big is the market opportunity?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1358011" y="5226714"/>
            <a:ext cx="5145405" cy="680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Tips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Adjust the positioning according to your company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755434" y="5224145"/>
            <a:ext cx="445770" cy="719455"/>
          </a:xfrm>
          <a:custGeom>
            <a:rect b="b" l="l" r="r" t="t"/>
            <a:pathLst>
              <a:path extrusionOk="0" h="719454" w="445769">
                <a:moveTo>
                  <a:pt x="278523" y="667588"/>
                </a:moveTo>
                <a:lnTo>
                  <a:pt x="167106" y="667588"/>
                </a:lnTo>
                <a:lnTo>
                  <a:pt x="172796" y="687882"/>
                </a:lnTo>
                <a:lnTo>
                  <a:pt x="185000" y="704176"/>
                </a:lnTo>
                <a:lnTo>
                  <a:pt x="202184" y="715010"/>
                </a:lnTo>
                <a:lnTo>
                  <a:pt x="222808" y="718934"/>
                </a:lnTo>
                <a:lnTo>
                  <a:pt x="243446" y="715010"/>
                </a:lnTo>
                <a:lnTo>
                  <a:pt x="260629" y="704176"/>
                </a:lnTo>
                <a:lnTo>
                  <a:pt x="272821" y="687882"/>
                </a:lnTo>
                <a:lnTo>
                  <a:pt x="278523" y="667588"/>
                </a:lnTo>
                <a:close/>
              </a:path>
              <a:path extrusionOk="0" h="719454" w="445769">
                <a:moveTo>
                  <a:pt x="334225" y="607669"/>
                </a:moveTo>
                <a:lnTo>
                  <a:pt x="332257" y="597522"/>
                </a:lnTo>
                <a:lnTo>
                  <a:pt x="326834" y="589381"/>
                </a:lnTo>
                <a:lnTo>
                  <a:pt x="318681" y="583958"/>
                </a:lnTo>
                <a:lnTo>
                  <a:pt x="308508" y="582002"/>
                </a:lnTo>
                <a:lnTo>
                  <a:pt x="137121" y="582002"/>
                </a:lnTo>
                <a:lnTo>
                  <a:pt x="126949" y="583958"/>
                </a:lnTo>
                <a:lnTo>
                  <a:pt x="118795" y="589381"/>
                </a:lnTo>
                <a:lnTo>
                  <a:pt x="113372" y="597522"/>
                </a:lnTo>
                <a:lnTo>
                  <a:pt x="111404" y="607669"/>
                </a:lnTo>
                <a:lnTo>
                  <a:pt x="113372" y="617829"/>
                </a:lnTo>
                <a:lnTo>
                  <a:pt x="118795" y="625970"/>
                </a:lnTo>
                <a:lnTo>
                  <a:pt x="126949" y="631380"/>
                </a:lnTo>
                <a:lnTo>
                  <a:pt x="137121" y="633349"/>
                </a:lnTo>
                <a:lnTo>
                  <a:pt x="308508" y="633349"/>
                </a:lnTo>
                <a:lnTo>
                  <a:pt x="318681" y="631380"/>
                </a:lnTo>
                <a:lnTo>
                  <a:pt x="326834" y="625970"/>
                </a:lnTo>
                <a:lnTo>
                  <a:pt x="332257" y="617829"/>
                </a:lnTo>
                <a:lnTo>
                  <a:pt x="334225" y="607669"/>
                </a:lnTo>
                <a:close/>
              </a:path>
              <a:path extrusionOk="0" h="719454" w="445769">
                <a:moveTo>
                  <a:pt x="334225" y="522084"/>
                </a:moveTo>
                <a:lnTo>
                  <a:pt x="332257" y="511937"/>
                </a:lnTo>
                <a:lnTo>
                  <a:pt x="326834" y="503796"/>
                </a:lnTo>
                <a:lnTo>
                  <a:pt x="318681" y="498373"/>
                </a:lnTo>
                <a:lnTo>
                  <a:pt x="308508" y="496404"/>
                </a:lnTo>
                <a:lnTo>
                  <a:pt x="137121" y="496404"/>
                </a:lnTo>
                <a:lnTo>
                  <a:pt x="126949" y="498373"/>
                </a:lnTo>
                <a:lnTo>
                  <a:pt x="118795" y="503796"/>
                </a:lnTo>
                <a:lnTo>
                  <a:pt x="113372" y="511937"/>
                </a:lnTo>
                <a:lnTo>
                  <a:pt x="111404" y="522084"/>
                </a:lnTo>
                <a:lnTo>
                  <a:pt x="113372" y="532231"/>
                </a:lnTo>
                <a:lnTo>
                  <a:pt x="118795" y="540385"/>
                </a:lnTo>
                <a:lnTo>
                  <a:pt x="126949" y="545795"/>
                </a:lnTo>
                <a:lnTo>
                  <a:pt x="137121" y="547763"/>
                </a:lnTo>
                <a:lnTo>
                  <a:pt x="308508" y="547763"/>
                </a:lnTo>
                <a:lnTo>
                  <a:pt x="318681" y="545795"/>
                </a:lnTo>
                <a:lnTo>
                  <a:pt x="326834" y="540385"/>
                </a:lnTo>
                <a:lnTo>
                  <a:pt x="332257" y="532231"/>
                </a:lnTo>
                <a:lnTo>
                  <a:pt x="334225" y="522084"/>
                </a:lnTo>
                <a:close/>
              </a:path>
              <a:path extrusionOk="0" h="719454" w="445769">
                <a:moveTo>
                  <a:pt x="445630" y="219964"/>
                </a:moveTo>
                <a:lnTo>
                  <a:pt x="440309" y="175653"/>
                </a:lnTo>
                <a:lnTo>
                  <a:pt x="426847" y="134442"/>
                </a:lnTo>
                <a:lnTo>
                  <a:pt x="406082" y="97180"/>
                </a:lnTo>
                <a:lnTo>
                  <a:pt x="395071" y="84035"/>
                </a:lnTo>
                <a:lnTo>
                  <a:pt x="395071" y="219964"/>
                </a:lnTo>
                <a:lnTo>
                  <a:pt x="395071" y="226809"/>
                </a:lnTo>
                <a:lnTo>
                  <a:pt x="394208" y="226809"/>
                </a:lnTo>
                <a:lnTo>
                  <a:pt x="392938" y="242189"/>
                </a:lnTo>
                <a:lnTo>
                  <a:pt x="390461" y="257403"/>
                </a:lnTo>
                <a:lnTo>
                  <a:pt x="376580" y="299364"/>
                </a:lnTo>
                <a:lnTo>
                  <a:pt x="353072" y="333794"/>
                </a:lnTo>
                <a:lnTo>
                  <a:pt x="338797" y="352082"/>
                </a:lnTo>
                <a:lnTo>
                  <a:pt x="325653" y="371017"/>
                </a:lnTo>
                <a:lnTo>
                  <a:pt x="313791" y="390601"/>
                </a:lnTo>
                <a:lnTo>
                  <a:pt x="303364" y="410819"/>
                </a:lnTo>
                <a:lnTo>
                  <a:pt x="143116" y="410819"/>
                </a:lnTo>
                <a:lnTo>
                  <a:pt x="120192" y="371017"/>
                </a:lnTo>
                <a:lnTo>
                  <a:pt x="93408" y="333794"/>
                </a:lnTo>
                <a:lnTo>
                  <a:pt x="84759" y="323062"/>
                </a:lnTo>
                <a:lnTo>
                  <a:pt x="76911" y="311543"/>
                </a:lnTo>
                <a:lnTo>
                  <a:pt x="59258" y="272300"/>
                </a:lnTo>
                <a:lnTo>
                  <a:pt x="52336" y="227660"/>
                </a:lnTo>
                <a:lnTo>
                  <a:pt x="52273" y="219964"/>
                </a:lnTo>
                <a:lnTo>
                  <a:pt x="59080" y="175069"/>
                </a:lnTo>
                <a:lnTo>
                  <a:pt x="76708" y="134747"/>
                </a:lnTo>
                <a:lnTo>
                  <a:pt x="103581" y="100558"/>
                </a:lnTo>
                <a:lnTo>
                  <a:pt x="138099" y="74079"/>
                </a:lnTo>
                <a:lnTo>
                  <a:pt x="178663" y="56870"/>
                </a:lnTo>
                <a:lnTo>
                  <a:pt x="223672" y="50495"/>
                </a:lnTo>
                <a:lnTo>
                  <a:pt x="268681" y="56807"/>
                </a:lnTo>
                <a:lnTo>
                  <a:pt x="309245" y="73888"/>
                </a:lnTo>
                <a:lnTo>
                  <a:pt x="343750" y="100241"/>
                </a:lnTo>
                <a:lnTo>
                  <a:pt x="370624" y="134366"/>
                </a:lnTo>
                <a:lnTo>
                  <a:pt x="388264" y="174777"/>
                </a:lnTo>
                <a:lnTo>
                  <a:pt x="395071" y="219964"/>
                </a:lnTo>
                <a:lnTo>
                  <a:pt x="395071" y="84035"/>
                </a:lnTo>
                <a:lnTo>
                  <a:pt x="361492" y="50495"/>
                </a:lnTo>
                <a:lnTo>
                  <a:pt x="308610" y="17640"/>
                </a:lnTo>
                <a:lnTo>
                  <a:pt x="267220" y="4711"/>
                </a:lnTo>
                <a:lnTo>
                  <a:pt x="222808" y="0"/>
                </a:lnTo>
                <a:lnTo>
                  <a:pt x="178409" y="4711"/>
                </a:lnTo>
                <a:lnTo>
                  <a:pt x="137020" y="17640"/>
                </a:lnTo>
                <a:lnTo>
                  <a:pt x="99517" y="37922"/>
                </a:lnTo>
                <a:lnTo>
                  <a:pt x="66738" y="64719"/>
                </a:lnTo>
                <a:lnTo>
                  <a:pt x="39547" y="97180"/>
                </a:lnTo>
                <a:lnTo>
                  <a:pt x="18783" y="134442"/>
                </a:lnTo>
                <a:lnTo>
                  <a:pt x="5321" y="175653"/>
                </a:lnTo>
                <a:lnTo>
                  <a:pt x="0" y="219964"/>
                </a:lnTo>
                <a:lnTo>
                  <a:pt x="0" y="227660"/>
                </a:lnTo>
                <a:lnTo>
                  <a:pt x="4495" y="266814"/>
                </a:lnTo>
                <a:lnTo>
                  <a:pt x="15417" y="304685"/>
                </a:lnTo>
                <a:lnTo>
                  <a:pt x="42418" y="353441"/>
                </a:lnTo>
                <a:lnTo>
                  <a:pt x="53987" y="368020"/>
                </a:lnTo>
                <a:lnTo>
                  <a:pt x="69507" y="388010"/>
                </a:lnTo>
                <a:lnTo>
                  <a:pt x="84302" y="411670"/>
                </a:lnTo>
                <a:lnTo>
                  <a:pt x="97015" y="434708"/>
                </a:lnTo>
                <a:lnTo>
                  <a:pt x="106260" y="452755"/>
                </a:lnTo>
                <a:lnTo>
                  <a:pt x="108839" y="458749"/>
                </a:lnTo>
                <a:lnTo>
                  <a:pt x="114833" y="462178"/>
                </a:lnTo>
                <a:lnTo>
                  <a:pt x="330796" y="462178"/>
                </a:lnTo>
                <a:lnTo>
                  <a:pt x="336791" y="458749"/>
                </a:lnTo>
                <a:lnTo>
                  <a:pt x="339369" y="452755"/>
                </a:lnTo>
                <a:lnTo>
                  <a:pt x="348615" y="434708"/>
                </a:lnTo>
                <a:lnTo>
                  <a:pt x="361327" y="411670"/>
                </a:lnTo>
                <a:lnTo>
                  <a:pt x="361861" y="410819"/>
                </a:lnTo>
                <a:lnTo>
                  <a:pt x="376123" y="388010"/>
                </a:lnTo>
                <a:lnTo>
                  <a:pt x="391642" y="368020"/>
                </a:lnTo>
                <a:lnTo>
                  <a:pt x="403326" y="353441"/>
                </a:lnTo>
                <a:lnTo>
                  <a:pt x="413816" y="337959"/>
                </a:lnTo>
                <a:lnTo>
                  <a:pt x="436473" y="285915"/>
                </a:lnTo>
                <a:lnTo>
                  <a:pt x="444182" y="247396"/>
                </a:lnTo>
                <a:lnTo>
                  <a:pt x="445630" y="227660"/>
                </a:lnTo>
                <a:lnTo>
                  <a:pt x="445630" y="21996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1975" y="0"/>
            <a:ext cx="121065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2491425" cy="131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8"/>
          <p:cNvGrpSpPr/>
          <p:nvPr/>
        </p:nvGrpSpPr>
        <p:grpSpPr>
          <a:xfrm>
            <a:off x="7627620" y="2354924"/>
            <a:ext cx="4098290" cy="2762885"/>
            <a:chOff x="7627620" y="2026920"/>
            <a:chExt cx="4098290" cy="2762885"/>
          </a:xfrm>
        </p:grpSpPr>
        <p:sp>
          <p:nvSpPr>
            <p:cNvPr id="223" name="Google Shape;223;p8"/>
            <p:cNvSpPr/>
            <p:nvPr/>
          </p:nvSpPr>
          <p:spPr>
            <a:xfrm>
              <a:off x="7664196" y="2033016"/>
              <a:ext cx="3550920" cy="262432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7627620" y="2026920"/>
              <a:ext cx="4098290" cy="2762885"/>
            </a:xfrm>
            <a:custGeom>
              <a:rect b="b" l="l" r="r" t="t"/>
              <a:pathLst>
                <a:path extrusionOk="0" h="2762885" w="4098290">
                  <a:moveTo>
                    <a:pt x="4098035" y="0"/>
                  </a:moveTo>
                  <a:lnTo>
                    <a:pt x="0" y="0"/>
                  </a:lnTo>
                  <a:lnTo>
                    <a:pt x="0" y="2473452"/>
                  </a:lnTo>
                  <a:lnTo>
                    <a:pt x="2390521" y="2473452"/>
                  </a:lnTo>
                  <a:lnTo>
                    <a:pt x="3683380" y="2762377"/>
                  </a:lnTo>
                  <a:lnTo>
                    <a:pt x="3415029" y="2473452"/>
                  </a:lnTo>
                  <a:lnTo>
                    <a:pt x="4098035" y="2473452"/>
                  </a:lnTo>
                  <a:lnTo>
                    <a:pt x="409803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8"/>
          <p:cNvSpPr txBox="1"/>
          <p:nvPr>
            <p:ph type="title"/>
          </p:nvPr>
        </p:nvSpPr>
        <p:spPr>
          <a:xfrm>
            <a:off x="315191" y="1615187"/>
            <a:ext cx="105156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62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1800"/>
              <a:buNone/>
            </a:pPr>
            <a:r>
              <a:rPr b="1" lang="en-US" sz="40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Business Model</a:t>
            </a:r>
            <a:br>
              <a:rPr lang="en-US" sz="40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How do you gain revenue?</a:t>
            </a:r>
            <a:endParaRPr/>
          </a:p>
        </p:txBody>
      </p:sp>
      <p:sp>
        <p:nvSpPr>
          <p:cNvPr id="226" name="Google Shape;226;p8"/>
          <p:cNvSpPr txBox="1"/>
          <p:nvPr/>
        </p:nvSpPr>
        <p:spPr>
          <a:xfrm>
            <a:off x="671244" y="2869369"/>
            <a:ext cx="6821700" cy="2283600"/>
          </a:xfrm>
          <a:prstGeom prst="rect">
            <a:avLst/>
          </a:prstGeom>
          <a:solidFill>
            <a:srgbClr val="EBE6A1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9080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5" lvl="0" marL="319405" marR="784860" rtl="0" algn="l">
              <a:lnSpc>
                <a:spcPct val="129500"/>
              </a:lnSpc>
              <a:spcBef>
                <a:spcPts val="104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early-stage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specify the current and future 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3195" lvl="0" marL="319405" marR="1442085" rtl="0" algn="l">
              <a:lnSpc>
                <a:spcPct val="129500"/>
              </a:lnSpc>
              <a:spcBef>
                <a:spcPts val="100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Examples: subscription fee, sales margin,  transaction fee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5" lvl="0" marL="32004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also mention: Wholesale (B2B), Retail (B2C)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7888605" y="2869381"/>
            <a:ext cx="3236595" cy="1397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investors think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will the revenue stream  help the company to scale? Is  it sustainable?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1358011" y="5226714"/>
            <a:ext cx="42786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Tips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can provide some diagrams if it helps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755434" y="5257800"/>
            <a:ext cx="445770" cy="719455"/>
          </a:xfrm>
          <a:custGeom>
            <a:rect b="b" l="l" r="r" t="t"/>
            <a:pathLst>
              <a:path extrusionOk="0" h="719454" w="445769">
                <a:moveTo>
                  <a:pt x="278523" y="667588"/>
                </a:moveTo>
                <a:lnTo>
                  <a:pt x="167106" y="667588"/>
                </a:lnTo>
                <a:lnTo>
                  <a:pt x="172796" y="687882"/>
                </a:lnTo>
                <a:lnTo>
                  <a:pt x="185000" y="704176"/>
                </a:lnTo>
                <a:lnTo>
                  <a:pt x="202184" y="715010"/>
                </a:lnTo>
                <a:lnTo>
                  <a:pt x="222808" y="718934"/>
                </a:lnTo>
                <a:lnTo>
                  <a:pt x="243446" y="715010"/>
                </a:lnTo>
                <a:lnTo>
                  <a:pt x="260629" y="704176"/>
                </a:lnTo>
                <a:lnTo>
                  <a:pt x="272821" y="687882"/>
                </a:lnTo>
                <a:lnTo>
                  <a:pt x="278523" y="667588"/>
                </a:lnTo>
                <a:close/>
              </a:path>
              <a:path extrusionOk="0" h="719454" w="445769">
                <a:moveTo>
                  <a:pt x="334225" y="607669"/>
                </a:moveTo>
                <a:lnTo>
                  <a:pt x="332257" y="597522"/>
                </a:lnTo>
                <a:lnTo>
                  <a:pt x="326834" y="589381"/>
                </a:lnTo>
                <a:lnTo>
                  <a:pt x="318681" y="583958"/>
                </a:lnTo>
                <a:lnTo>
                  <a:pt x="308508" y="582002"/>
                </a:lnTo>
                <a:lnTo>
                  <a:pt x="137121" y="582002"/>
                </a:lnTo>
                <a:lnTo>
                  <a:pt x="126949" y="583958"/>
                </a:lnTo>
                <a:lnTo>
                  <a:pt x="118795" y="589381"/>
                </a:lnTo>
                <a:lnTo>
                  <a:pt x="113372" y="597522"/>
                </a:lnTo>
                <a:lnTo>
                  <a:pt x="111404" y="607669"/>
                </a:lnTo>
                <a:lnTo>
                  <a:pt x="113372" y="617829"/>
                </a:lnTo>
                <a:lnTo>
                  <a:pt x="118795" y="625970"/>
                </a:lnTo>
                <a:lnTo>
                  <a:pt x="126949" y="631380"/>
                </a:lnTo>
                <a:lnTo>
                  <a:pt x="137121" y="633349"/>
                </a:lnTo>
                <a:lnTo>
                  <a:pt x="308508" y="633349"/>
                </a:lnTo>
                <a:lnTo>
                  <a:pt x="318681" y="631380"/>
                </a:lnTo>
                <a:lnTo>
                  <a:pt x="326834" y="625970"/>
                </a:lnTo>
                <a:lnTo>
                  <a:pt x="332257" y="617829"/>
                </a:lnTo>
                <a:lnTo>
                  <a:pt x="334225" y="607669"/>
                </a:lnTo>
                <a:close/>
              </a:path>
              <a:path extrusionOk="0" h="719454" w="445769">
                <a:moveTo>
                  <a:pt x="334225" y="522084"/>
                </a:moveTo>
                <a:lnTo>
                  <a:pt x="332257" y="511937"/>
                </a:lnTo>
                <a:lnTo>
                  <a:pt x="326834" y="503796"/>
                </a:lnTo>
                <a:lnTo>
                  <a:pt x="318681" y="498373"/>
                </a:lnTo>
                <a:lnTo>
                  <a:pt x="308508" y="496404"/>
                </a:lnTo>
                <a:lnTo>
                  <a:pt x="137121" y="496404"/>
                </a:lnTo>
                <a:lnTo>
                  <a:pt x="126949" y="498373"/>
                </a:lnTo>
                <a:lnTo>
                  <a:pt x="118795" y="503796"/>
                </a:lnTo>
                <a:lnTo>
                  <a:pt x="113372" y="511937"/>
                </a:lnTo>
                <a:lnTo>
                  <a:pt x="111404" y="522084"/>
                </a:lnTo>
                <a:lnTo>
                  <a:pt x="113372" y="532231"/>
                </a:lnTo>
                <a:lnTo>
                  <a:pt x="118795" y="540385"/>
                </a:lnTo>
                <a:lnTo>
                  <a:pt x="126949" y="545795"/>
                </a:lnTo>
                <a:lnTo>
                  <a:pt x="137121" y="547763"/>
                </a:lnTo>
                <a:lnTo>
                  <a:pt x="308508" y="547763"/>
                </a:lnTo>
                <a:lnTo>
                  <a:pt x="318681" y="545795"/>
                </a:lnTo>
                <a:lnTo>
                  <a:pt x="326834" y="540385"/>
                </a:lnTo>
                <a:lnTo>
                  <a:pt x="332257" y="532231"/>
                </a:lnTo>
                <a:lnTo>
                  <a:pt x="334225" y="522084"/>
                </a:lnTo>
                <a:close/>
              </a:path>
              <a:path extrusionOk="0" h="719454" w="445769">
                <a:moveTo>
                  <a:pt x="445630" y="219964"/>
                </a:moveTo>
                <a:lnTo>
                  <a:pt x="440309" y="175653"/>
                </a:lnTo>
                <a:lnTo>
                  <a:pt x="426847" y="134442"/>
                </a:lnTo>
                <a:lnTo>
                  <a:pt x="406082" y="97180"/>
                </a:lnTo>
                <a:lnTo>
                  <a:pt x="395071" y="84035"/>
                </a:lnTo>
                <a:lnTo>
                  <a:pt x="395071" y="219964"/>
                </a:lnTo>
                <a:lnTo>
                  <a:pt x="395071" y="226809"/>
                </a:lnTo>
                <a:lnTo>
                  <a:pt x="394208" y="226809"/>
                </a:lnTo>
                <a:lnTo>
                  <a:pt x="392938" y="242189"/>
                </a:lnTo>
                <a:lnTo>
                  <a:pt x="390461" y="257403"/>
                </a:lnTo>
                <a:lnTo>
                  <a:pt x="376580" y="299364"/>
                </a:lnTo>
                <a:lnTo>
                  <a:pt x="353072" y="333794"/>
                </a:lnTo>
                <a:lnTo>
                  <a:pt x="338797" y="352082"/>
                </a:lnTo>
                <a:lnTo>
                  <a:pt x="325653" y="371017"/>
                </a:lnTo>
                <a:lnTo>
                  <a:pt x="313791" y="390601"/>
                </a:lnTo>
                <a:lnTo>
                  <a:pt x="303364" y="410819"/>
                </a:lnTo>
                <a:lnTo>
                  <a:pt x="143116" y="410819"/>
                </a:lnTo>
                <a:lnTo>
                  <a:pt x="120192" y="371017"/>
                </a:lnTo>
                <a:lnTo>
                  <a:pt x="93408" y="333794"/>
                </a:lnTo>
                <a:lnTo>
                  <a:pt x="84759" y="323062"/>
                </a:lnTo>
                <a:lnTo>
                  <a:pt x="76911" y="311543"/>
                </a:lnTo>
                <a:lnTo>
                  <a:pt x="59258" y="272300"/>
                </a:lnTo>
                <a:lnTo>
                  <a:pt x="52336" y="227660"/>
                </a:lnTo>
                <a:lnTo>
                  <a:pt x="52273" y="219964"/>
                </a:lnTo>
                <a:lnTo>
                  <a:pt x="59080" y="175069"/>
                </a:lnTo>
                <a:lnTo>
                  <a:pt x="76708" y="134747"/>
                </a:lnTo>
                <a:lnTo>
                  <a:pt x="103581" y="100558"/>
                </a:lnTo>
                <a:lnTo>
                  <a:pt x="138099" y="74079"/>
                </a:lnTo>
                <a:lnTo>
                  <a:pt x="178663" y="56870"/>
                </a:lnTo>
                <a:lnTo>
                  <a:pt x="223672" y="50495"/>
                </a:lnTo>
                <a:lnTo>
                  <a:pt x="268681" y="56807"/>
                </a:lnTo>
                <a:lnTo>
                  <a:pt x="309245" y="73888"/>
                </a:lnTo>
                <a:lnTo>
                  <a:pt x="343750" y="100241"/>
                </a:lnTo>
                <a:lnTo>
                  <a:pt x="370624" y="134366"/>
                </a:lnTo>
                <a:lnTo>
                  <a:pt x="388264" y="174777"/>
                </a:lnTo>
                <a:lnTo>
                  <a:pt x="395071" y="219964"/>
                </a:lnTo>
                <a:lnTo>
                  <a:pt x="395071" y="84035"/>
                </a:lnTo>
                <a:lnTo>
                  <a:pt x="361492" y="50495"/>
                </a:lnTo>
                <a:lnTo>
                  <a:pt x="308610" y="17640"/>
                </a:lnTo>
                <a:lnTo>
                  <a:pt x="267220" y="4711"/>
                </a:lnTo>
                <a:lnTo>
                  <a:pt x="222808" y="0"/>
                </a:lnTo>
                <a:lnTo>
                  <a:pt x="178409" y="4711"/>
                </a:lnTo>
                <a:lnTo>
                  <a:pt x="137020" y="17640"/>
                </a:lnTo>
                <a:lnTo>
                  <a:pt x="99517" y="37922"/>
                </a:lnTo>
                <a:lnTo>
                  <a:pt x="66738" y="64719"/>
                </a:lnTo>
                <a:lnTo>
                  <a:pt x="39547" y="97180"/>
                </a:lnTo>
                <a:lnTo>
                  <a:pt x="18783" y="134442"/>
                </a:lnTo>
                <a:lnTo>
                  <a:pt x="5321" y="175653"/>
                </a:lnTo>
                <a:lnTo>
                  <a:pt x="0" y="219964"/>
                </a:lnTo>
                <a:lnTo>
                  <a:pt x="0" y="227660"/>
                </a:lnTo>
                <a:lnTo>
                  <a:pt x="4495" y="266814"/>
                </a:lnTo>
                <a:lnTo>
                  <a:pt x="15417" y="304685"/>
                </a:lnTo>
                <a:lnTo>
                  <a:pt x="42418" y="353441"/>
                </a:lnTo>
                <a:lnTo>
                  <a:pt x="53987" y="368020"/>
                </a:lnTo>
                <a:lnTo>
                  <a:pt x="69507" y="388010"/>
                </a:lnTo>
                <a:lnTo>
                  <a:pt x="84302" y="411670"/>
                </a:lnTo>
                <a:lnTo>
                  <a:pt x="97015" y="434708"/>
                </a:lnTo>
                <a:lnTo>
                  <a:pt x="106260" y="452755"/>
                </a:lnTo>
                <a:lnTo>
                  <a:pt x="108839" y="458749"/>
                </a:lnTo>
                <a:lnTo>
                  <a:pt x="114833" y="462178"/>
                </a:lnTo>
                <a:lnTo>
                  <a:pt x="330796" y="462178"/>
                </a:lnTo>
                <a:lnTo>
                  <a:pt x="336791" y="458749"/>
                </a:lnTo>
                <a:lnTo>
                  <a:pt x="339369" y="452755"/>
                </a:lnTo>
                <a:lnTo>
                  <a:pt x="348615" y="434708"/>
                </a:lnTo>
                <a:lnTo>
                  <a:pt x="361327" y="411670"/>
                </a:lnTo>
                <a:lnTo>
                  <a:pt x="361861" y="410819"/>
                </a:lnTo>
                <a:lnTo>
                  <a:pt x="376123" y="388010"/>
                </a:lnTo>
                <a:lnTo>
                  <a:pt x="391642" y="368020"/>
                </a:lnTo>
                <a:lnTo>
                  <a:pt x="403326" y="353441"/>
                </a:lnTo>
                <a:lnTo>
                  <a:pt x="413816" y="337959"/>
                </a:lnTo>
                <a:lnTo>
                  <a:pt x="436473" y="285915"/>
                </a:lnTo>
                <a:lnTo>
                  <a:pt x="444182" y="247396"/>
                </a:lnTo>
                <a:lnTo>
                  <a:pt x="445630" y="227660"/>
                </a:lnTo>
                <a:lnTo>
                  <a:pt x="445630" y="21996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1975" y="0"/>
            <a:ext cx="121065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2491425" cy="131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9"/>
          <p:cNvGrpSpPr/>
          <p:nvPr/>
        </p:nvGrpSpPr>
        <p:grpSpPr>
          <a:xfrm>
            <a:off x="7627620" y="2354924"/>
            <a:ext cx="4098290" cy="2762885"/>
            <a:chOff x="7627620" y="2026920"/>
            <a:chExt cx="4098290" cy="2762885"/>
          </a:xfrm>
        </p:grpSpPr>
        <p:sp>
          <p:nvSpPr>
            <p:cNvPr id="237" name="Google Shape;237;p9"/>
            <p:cNvSpPr/>
            <p:nvPr/>
          </p:nvSpPr>
          <p:spPr>
            <a:xfrm>
              <a:off x="7664196" y="2033016"/>
              <a:ext cx="3550920" cy="262432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9"/>
            <p:cNvSpPr/>
            <p:nvPr/>
          </p:nvSpPr>
          <p:spPr>
            <a:xfrm>
              <a:off x="7627620" y="2026920"/>
              <a:ext cx="4098290" cy="2762885"/>
            </a:xfrm>
            <a:custGeom>
              <a:rect b="b" l="l" r="r" t="t"/>
              <a:pathLst>
                <a:path extrusionOk="0" h="2762885" w="4098290">
                  <a:moveTo>
                    <a:pt x="4098035" y="0"/>
                  </a:moveTo>
                  <a:lnTo>
                    <a:pt x="0" y="0"/>
                  </a:lnTo>
                  <a:lnTo>
                    <a:pt x="0" y="2473452"/>
                  </a:lnTo>
                  <a:lnTo>
                    <a:pt x="2390521" y="2473452"/>
                  </a:lnTo>
                  <a:lnTo>
                    <a:pt x="3683380" y="2762377"/>
                  </a:lnTo>
                  <a:lnTo>
                    <a:pt x="3415029" y="2473452"/>
                  </a:lnTo>
                  <a:lnTo>
                    <a:pt x="4098035" y="2473452"/>
                  </a:lnTo>
                  <a:lnTo>
                    <a:pt x="409803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9"/>
          <p:cNvSpPr txBox="1"/>
          <p:nvPr>
            <p:ph type="title"/>
          </p:nvPr>
        </p:nvSpPr>
        <p:spPr>
          <a:xfrm>
            <a:off x="457200" y="1607377"/>
            <a:ext cx="105156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62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1800"/>
              <a:buNone/>
            </a:pPr>
            <a:r>
              <a:rPr b="1" lang="en-US" sz="40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Traction</a:t>
            </a:r>
            <a:endParaRPr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What have you achieved?</a:t>
            </a:r>
            <a:endParaRPr/>
          </a:p>
        </p:txBody>
      </p:sp>
      <p:sp>
        <p:nvSpPr>
          <p:cNvPr id="240" name="Google Shape;240;p9"/>
          <p:cNvSpPr txBox="1"/>
          <p:nvPr/>
        </p:nvSpPr>
        <p:spPr>
          <a:xfrm>
            <a:off x="755419" y="2883725"/>
            <a:ext cx="6821700" cy="2178600"/>
          </a:xfrm>
          <a:prstGeom prst="rect">
            <a:avLst/>
          </a:prstGeom>
          <a:solidFill>
            <a:srgbClr val="EBE6A1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90805" marR="0" rtl="0" algn="l">
              <a:lnSpc>
                <a:spcPct val="1427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5" lvl="0" marL="32004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was it firstly founded?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5" lvl="0" marL="320040" marR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achievements, examples: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830" lvl="1" marL="77724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Number of customers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830" lvl="1" marL="77724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Total revenue, GTV, GMV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830" lvl="1" marL="77724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Geographical reach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830" lvl="1" marL="77724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Acknowledgement (awards, media coverage)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 txBox="1"/>
          <p:nvPr/>
        </p:nvSpPr>
        <p:spPr>
          <a:xfrm>
            <a:off x="7888605" y="2793207"/>
            <a:ext cx="3541395" cy="1160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investors think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3345" marR="5080" rtl="0" algn="l">
              <a:lnSpc>
                <a:spcPct val="110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 Any proof that  your product can address the  problem?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 txBox="1"/>
          <p:nvPr/>
        </p:nvSpPr>
        <p:spPr>
          <a:xfrm>
            <a:off x="1358011" y="5226714"/>
            <a:ext cx="4548505" cy="680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Tips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Understand the key metrics in your industry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755434" y="5181600"/>
            <a:ext cx="445770" cy="719455"/>
          </a:xfrm>
          <a:custGeom>
            <a:rect b="b" l="l" r="r" t="t"/>
            <a:pathLst>
              <a:path extrusionOk="0" h="719454" w="445769">
                <a:moveTo>
                  <a:pt x="278523" y="667588"/>
                </a:moveTo>
                <a:lnTo>
                  <a:pt x="167106" y="667588"/>
                </a:lnTo>
                <a:lnTo>
                  <a:pt x="172796" y="687882"/>
                </a:lnTo>
                <a:lnTo>
                  <a:pt x="185000" y="704176"/>
                </a:lnTo>
                <a:lnTo>
                  <a:pt x="202184" y="715010"/>
                </a:lnTo>
                <a:lnTo>
                  <a:pt x="222808" y="718934"/>
                </a:lnTo>
                <a:lnTo>
                  <a:pt x="243446" y="715010"/>
                </a:lnTo>
                <a:lnTo>
                  <a:pt x="260629" y="704176"/>
                </a:lnTo>
                <a:lnTo>
                  <a:pt x="272821" y="687882"/>
                </a:lnTo>
                <a:lnTo>
                  <a:pt x="278523" y="667588"/>
                </a:lnTo>
                <a:close/>
              </a:path>
              <a:path extrusionOk="0" h="719454" w="445769">
                <a:moveTo>
                  <a:pt x="334225" y="607669"/>
                </a:moveTo>
                <a:lnTo>
                  <a:pt x="332257" y="597522"/>
                </a:lnTo>
                <a:lnTo>
                  <a:pt x="326834" y="589381"/>
                </a:lnTo>
                <a:lnTo>
                  <a:pt x="318681" y="583958"/>
                </a:lnTo>
                <a:lnTo>
                  <a:pt x="308508" y="582002"/>
                </a:lnTo>
                <a:lnTo>
                  <a:pt x="137121" y="582002"/>
                </a:lnTo>
                <a:lnTo>
                  <a:pt x="126949" y="583958"/>
                </a:lnTo>
                <a:lnTo>
                  <a:pt x="118795" y="589381"/>
                </a:lnTo>
                <a:lnTo>
                  <a:pt x="113372" y="597522"/>
                </a:lnTo>
                <a:lnTo>
                  <a:pt x="111404" y="607669"/>
                </a:lnTo>
                <a:lnTo>
                  <a:pt x="113372" y="617829"/>
                </a:lnTo>
                <a:lnTo>
                  <a:pt x="118795" y="625970"/>
                </a:lnTo>
                <a:lnTo>
                  <a:pt x="126949" y="631380"/>
                </a:lnTo>
                <a:lnTo>
                  <a:pt x="137121" y="633349"/>
                </a:lnTo>
                <a:lnTo>
                  <a:pt x="308508" y="633349"/>
                </a:lnTo>
                <a:lnTo>
                  <a:pt x="318681" y="631380"/>
                </a:lnTo>
                <a:lnTo>
                  <a:pt x="326834" y="625970"/>
                </a:lnTo>
                <a:lnTo>
                  <a:pt x="332257" y="617829"/>
                </a:lnTo>
                <a:lnTo>
                  <a:pt x="334225" y="607669"/>
                </a:lnTo>
                <a:close/>
              </a:path>
              <a:path extrusionOk="0" h="719454" w="445769">
                <a:moveTo>
                  <a:pt x="334225" y="522084"/>
                </a:moveTo>
                <a:lnTo>
                  <a:pt x="332257" y="511937"/>
                </a:lnTo>
                <a:lnTo>
                  <a:pt x="326834" y="503796"/>
                </a:lnTo>
                <a:lnTo>
                  <a:pt x="318681" y="498373"/>
                </a:lnTo>
                <a:lnTo>
                  <a:pt x="308508" y="496404"/>
                </a:lnTo>
                <a:lnTo>
                  <a:pt x="137121" y="496404"/>
                </a:lnTo>
                <a:lnTo>
                  <a:pt x="126949" y="498373"/>
                </a:lnTo>
                <a:lnTo>
                  <a:pt x="118795" y="503796"/>
                </a:lnTo>
                <a:lnTo>
                  <a:pt x="113372" y="511937"/>
                </a:lnTo>
                <a:lnTo>
                  <a:pt x="111404" y="522084"/>
                </a:lnTo>
                <a:lnTo>
                  <a:pt x="113372" y="532231"/>
                </a:lnTo>
                <a:lnTo>
                  <a:pt x="118795" y="540385"/>
                </a:lnTo>
                <a:lnTo>
                  <a:pt x="126949" y="545795"/>
                </a:lnTo>
                <a:lnTo>
                  <a:pt x="137121" y="547763"/>
                </a:lnTo>
                <a:lnTo>
                  <a:pt x="308508" y="547763"/>
                </a:lnTo>
                <a:lnTo>
                  <a:pt x="318681" y="545795"/>
                </a:lnTo>
                <a:lnTo>
                  <a:pt x="326834" y="540385"/>
                </a:lnTo>
                <a:lnTo>
                  <a:pt x="332257" y="532231"/>
                </a:lnTo>
                <a:lnTo>
                  <a:pt x="334225" y="522084"/>
                </a:lnTo>
                <a:close/>
              </a:path>
              <a:path extrusionOk="0" h="719454" w="445769">
                <a:moveTo>
                  <a:pt x="445630" y="219964"/>
                </a:moveTo>
                <a:lnTo>
                  <a:pt x="440309" y="175653"/>
                </a:lnTo>
                <a:lnTo>
                  <a:pt x="426847" y="134442"/>
                </a:lnTo>
                <a:lnTo>
                  <a:pt x="406082" y="97180"/>
                </a:lnTo>
                <a:lnTo>
                  <a:pt x="395071" y="84035"/>
                </a:lnTo>
                <a:lnTo>
                  <a:pt x="395071" y="219964"/>
                </a:lnTo>
                <a:lnTo>
                  <a:pt x="395071" y="226809"/>
                </a:lnTo>
                <a:lnTo>
                  <a:pt x="394208" y="226809"/>
                </a:lnTo>
                <a:lnTo>
                  <a:pt x="392938" y="242189"/>
                </a:lnTo>
                <a:lnTo>
                  <a:pt x="390461" y="257403"/>
                </a:lnTo>
                <a:lnTo>
                  <a:pt x="376580" y="299364"/>
                </a:lnTo>
                <a:lnTo>
                  <a:pt x="353072" y="333794"/>
                </a:lnTo>
                <a:lnTo>
                  <a:pt x="338797" y="352082"/>
                </a:lnTo>
                <a:lnTo>
                  <a:pt x="325653" y="371017"/>
                </a:lnTo>
                <a:lnTo>
                  <a:pt x="313791" y="390601"/>
                </a:lnTo>
                <a:lnTo>
                  <a:pt x="303364" y="410819"/>
                </a:lnTo>
                <a:lnTo>
                  <a:pt x="143116" y="410819"/>
                </a:lnTo>
                <a:lnTo>
                  <a:pt x="120192" y="371017"/>
                </a:lnTo>
                <a:lnTo>
                  <a:pt x="93408" y="333794"/>
                </a:lnTo>
                <a:lnTo>
                  <a:pt x="84759" y="323062"/>
                </a:lnTo>
                <a:lnTo>
                  <a:pt x="76911" y="311543"/>
                </a:lnTo>
                <a:lnTo>
                  <a:pt x="59258" y="272300"/>
                </a:lnTo>
                <a:lnTo>
                  <a:pt x="52336" y="227660"/>
                </a:lnTo>
                <a:lnTo>
                  <a:pt x="52273" y="219964"/>
                </a:lnTo>
                <a:lnTo>
                  <a:pt x="59080" y="175069"/>
                </a:lnTo>
                <a:lnTo>
                  <a:pt x="76708" y="134747"/>
                </a:lnTo>
                <a:lnTo>
                  <a:pt x="103581" y="100558"/>
                </a:lnTo>
                <a:lnTo>
                  <a:pt x="138099" y="74079"/>
                </a:lnTo>
                <a:lnTo>
                  <a:pt x="178663" y="56870"/>
                </a:lnTo>
                <a:lnTo>
                  <a:pt x="223672" y="50495"/>
                </a:lnTo>
                <a:lnTo>
                  <a:pt x="268681" y="56807"/>
                </a:lnTo>
                <a:lnTo>
                  <a:pt x="309245" y="73888"/>
                </a:lnTo>
                <a:lnTo>
                  <a:pt x="343750" y="100241"/>
                </a:lnTo>
                <a:lnTo>
                  <a:pt x="370624" y="134366"/>
                </a:lnTo>
                <a:lnTo>
                  <a:pt x="388264" y="174777"/>
                </a:lnTo>
                <a:lnTo>
                  <a:pt x="395071" y="219964"/>
                </a:lnTo>
                <a:lnTo>
                  <a:pt x="395071" y="84035"/>
                </a:lnTo>
                <a:lnTo>
                  <a:pt x="361492" y="50495"/>
                </a:lnTo>
                <a:lnTo>
                  <a:pt x="308610" y="17640"/>
                </a:lnTo>
                <a:lnTo>
                  <a:pt x="267220" y="4711"/>
                </a:lnTo>
                <a:lnTo>
                  <a:pt x="222808" y="0"/>
                </a:lnTo>
                <a:lnTo>
                  <a:pt x="178409" y="4711"/>
                </a:lnTo>
                <a:lnTo>
                  <a:pt x="137020" y="17640"/>
                </a:lnTo>
                <a:lnTo>
                  <a:pt x="99517" y="37922"/>
                </a:lnTo>
                <a:lnTo>
                  <a:pt x="66738" y="64719"/>
                </a:lnTo>
                <a:lnTo>
                  <a:pt x="39547" y="97180"/>
                </a:lnTo>
                <a:lnTo>
                  <a:pt x="18783" y="134442"/>
                </a:lnTo>
                <a:lnTo>
                  <a:pt x="5321" y="175653"/>
                </a:lnTo>
                <a:lnTo>
                  <a:pt x="0" y="219964"/>
                </a:lnTo>
                <a:lnTo>
                  <a:pt x="0" y="227660"/>
                </a:lnTo>
                <a:lnTo>
                  <a:pt x="4495" y="266814"/>
                </a:lnTo>
                <a:lnTo>
                  <a:pt x="15417" y="304685"/>
                </a:lnTo>
                <a:lnTo>
                  <a:pt x="42418" y="353441"/>
                </a:lnTo>
                <a:lnTo>
                  <a:pt x="53987" y="368020"/>
                </a:lnTo>
                <a:lnTo>
                  <a:pt x="69507" y="388010"/>
                </a:lnTo>
                <a:lnTo>
                  <a:pt x="84302" y="411670"/>
                </a:lnTo>
                <a:lnTo>
                  <a:pt x="97015" y="434708"/>
                </a:lnTo>
                <a:lnTo>
                  <a:pt x="106260" y="452755"/>
                </a:lnTo>
                <a:lnTo>
                  <a:pt x="108839" y="458749"/>
                </a:lnTo>
                <a:lnTo>
                  <a:pt x="114833" y="462178"/>
                </a:lnTo>
                <a:lnTo>
                  <a:pt x="330796" y="462178"/>
                </a:lnTo>
                <a:lnTo>
                  <a:pt x="336791" y="458749"/>
                </a:lnTo>
                <a:lnTo>
                  <a:pt x="339369" y="452755"/>
                </a:lnTo>
                <a:lnTo>
                  <a:pt x="348615" y="434708"/>
                </a:lnTo>
                <a:lnTo>
                  <a:pt x="361327" y="411670"/>
                </a:lnTo>
                <a:lnTo>
                  <a:pt x="361861" y="410819"/>
                </a:lnTo>
                <a:lnTo>
                  <a:pt x="376123" y="388010"/>
                </a:lnTo>
                <a:lnTo>
                  <a:pt x="391642" y="368020"/>
                </a:lnTo>
                <a:lnTo>
                  <a:pt x="403326" y="353441"/>
                </a:lnTo>
                <a:lnTo>
                  <a:pt x="413816" y="337959"/>
                </a:lnTo>
                <a:lnTo>
                  <a:pt x="436473" y="285915"/>
                </a:lnTo>
                <a:lnTo>
                  <a:pt x="444182" y="247396"/>
                </a:lnTo>
                <a:lnTo>
                  <a:pt x="445630" y="227660"/>
                </a:lnTo>
                <a:lnTo>
                  <a:pt x="445630" y="21996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1975" y="0"/>
            <a:ext cx="121065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2491425" cy="131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"/>
          <p:cNvSpPr txBox="1"/>
          <p:nvPr/>
        </p:nvSpPr>
        <p:spPr>
          <a:xfrm>
            <a:off x="914400" y="1624600"/>
            <a:ext cx="36456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Milestones</a:t>
            </a:r>
            <a:endParaRPr b="0" i="0" sz="4000" u="none" cap="none" strike="noStrik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1025775" y="2712275"/>
            <a:ext cx="10829400" cy="2538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1975" y="0"/>
            <a:ext cx="121065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2491425" cy="131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12"/>
          <p:cNvGrpSpPr/>
          <p:nvPr/>
        </p:nvGrpSpPr>
        <p:grpSpPr>
          <a:xfrm>
            <a:off x="7627620" y="2354924"/>
            <a:ext cx="4098290" cy="2762885"/>
            <a:chOff x="7627620" y="2026920"/>
            <a:chExt cx="4098290" cy="2762885"/>
          </a:xfrm>
        </p:grpSpPr>
        <p:sp>
          <p:nvSpPr>
            <p:cNvPr id="259" name="Google Shape;259;p12"/>
            <p:cNvSpPr/>
            <p:nvPr/>
          </p:nvSpPr>
          <p:spPr>
            <a:xfrm>
              <a:off x="7664196" y="2033016"/>
              <a:ext cx="3550920" cy="262432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2"/>
            <p:cNvSpPr/>
            <p:nvPr/>
          </p:nvSpPr>
          <p:spPr>
            <a:xfrm>
              <a:off x="7627620" y="2026920"/>
              <a:ext cx="4098290" cy="2762885"/>
            </a:xfrm>
            <a:custGeom>
              <a:rect b="b" l="l" r="r" t="t"/>
              <a:pathLst>
                <a:path extrusionOk="0" h="2762885" w="4098290">
                  <a:moveTo>
                    <a:pt x="4098035" y="0"/>
                  </a:moveTo>
                  <a:lnTo>
                    <a:pt x="0" y="0"/>
                  </a:lnTo>
                  <a:lnTo>
                    <a:pt x="0" y="2473452"/>
                  </a:lnTo>
                  <a:lnTo>
                    <a:pt x="2390521" y="2473452"/>
                  </a:lnTo>
                  <a:lnTo>
                    <a:pt x="3683380" y="2762377"/>
                  </a:lnTo>
                  <a:lnTo>
                    <a:pt x="3415029" y="2473452"/>
                  </a:lnTo>
                  <a:lnTo>
                    <a:pt x="4098035" y="2473452"/>
                  </a:lnTo>
                  <a:lnTo>
                    <a:pt x="409803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12"/>
          <p:cNvSpPr txBox="1"/>
          <p:nvPr>
            <p:ph type="title"/>
          </p:nvPr>
        </p:nvSpPr>
        <p:spPr>
          <a:xfrm>
            <a:off x="386375" y="1540587"/>
            <a:ext cx="105156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62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1800"/>
              <a:buNone/>
            </a:pPr>
            <a:r>
              <a:rPr b="1" lang="en-US" sz="40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br>
              <a:rPr lang="en-US" sz="40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Who are the key people in the team? What are their roles?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386369" y="2783704"/>
            <a:ext cx="6821700" cy="1905300"/>
          </a:xfrm>
          <a:prstGeom prst="rect">
            <a:avLst/>
          </a:prstGeom>
          <a:solidFill>
            <a:srgbClr val="EBE6A1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9080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5" lvl="0" marL="32004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3-5 key people in the team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5" lvl="0" marL="320040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Position in the team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5" lvl="0" marL="320040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Any relevant background/experience?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5" lvl="0" marL="32004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can include key investors and advisors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7888605" y="2869381"/>
            <a:ext cx="3458845" cy="1397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investors think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 it the winning team? Do  they have skin in the game?  Are they reliable and solid?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1358011" y="5226714"/>
            <a:ext cx="5424170" cy="680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Tips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 pictures, especially during the pitching session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755434" y="5181600"/>
            <a:ext cx="445770" cy="719455"/>
          </a:xfrm>
          <a:custGeom>
            <a:rect b="b" l="l" r="r" t="t"/>
            <a:pathLst>
              <a:path extrusionOk="0" h="719454" w="445769">
                <a:moveTo>
                  <a:pt x="278523" y="667588"/>
                </a:moveTo>
                <a:lnTo>
                  <a:pt x="167106" y="667588"/>
                </a:lnTo>
                <a:lnTo>
                  <a:pt x="172796" y="687882"/>
                </a:lnTo>
                <a:lnTo>
                  <a:pt x="185000" y="704176"/>
                </a:lnTo>
                <a:lnTo>
                  <a:pt x="202184" y="715010"/>
                </a:lnTo>
                <a:lnTo>
                  <a:pt x="222808" y="718934"/>
                </a:lnTo>
                <a:lnTo>
                  <a:pt x="243446" y="715010"/>
                </a:lnTo>
                <a:lnTo>
                  <a:pt x="260629" y="704176"/>
                </a:lnTo>
                <a:lnTo>
                  <a:pt x="272821" y="687882"/>
                </a:lnTo>
                <a:lnTo>
                  <a:pt x="278523" y="667588"/>
                </a:lnTo>
                <a:close/>
              </a:path>
              <a:path extrusionOk="0" h="719454" w="445769">
                <a:moveTo>
                  <a:pt x="334225" y="607669"/>
                </a:moveTo>
                <a:lnTo>
                  <a:pt x="332257" y="597522"/>
                </a:lnTo>
                <a:lnTo>
                  <a:pt x="326834" y="589381"/>
                </a:lnTo>
                <a:lnTo>
                  <a:pt x="318681" y="583958"/>
                </a:lnTo>
                <a:lnTo>
                  <a:pt x="308508" y="582002"/>
                </a:lnTo>
                <a:lnTo>
                  <a:pt x="137121" y="582002"/>
                </a:lnTo>
                <a:lnTo>
                  <a:pt x="126949" y="583958"/>
                </a:lnTo>
                <a:lnTo>
                  <a:pt x="118795" y="589381"/>
                </a:lnTo>
                <a:lnTo>
                  <a:pt x="113372" y="597522"/>
                </a:lnTo>
                <a:lnTo>
                  <a:pt x="111404" y="607669"/>
                </a:lnTo>
                <a:lnTo>
                  <a:pt x="113372" y="617829"/>
                </a:lnTo>
                <a:lnTo>
                  <a:pt x="118795" y="625970"/>
                </a:lnTo>
                <a:lnTo>
                  <a:pt x="126949" y="631380"/>
                </a:lnTo>
                <a:lnTo>
                  <a:pt x="137121" y="633349"/>
                </a:lnTo>
                <a:lnTo>
                  <a:pt x="308508" y="633349"/>
                </a:lnTo>
                <a:lnTo>
                  <a:pt x="318681" y="631380"/>
                </a:lnTo>
                <a:lnTo>
                  <a:pt x="326834" y="625970"/>
                </a:lnTo>
                <a:lnTo>
                  <a:pt x="332257" y="617829"/>
                </a:lnTo>
                <a:lnTo>
                  <a:pt x="334225" y="607669"/>
                </a:lnTo>
                <a:close/>
              </a:path>
              <a:path extrusionOk="0" h="719454" w="445769">
                <a:moveTo>
                  <a:pt x="334225" y="522084"/>
                </a:moveTo>
                <a:lnTo>
                  <a:pt x="332257" y="511937"/>
                </a:lnTo>
                <a:lnTo>
                  <a:pt x="326834" y="503796"/>
                </a:lnTo>
                <a:lnTo>
                  <a:pt x="318681" y="498373"/>
                </a:lnTo>
                <a:lnTo>
                  <a:pt x="308508" y="496404"/>
                </a:lnTo>
                <a:lnTo>
                  <a:pt x="137121" y="496404"/>
                </a:lnTo>
                <a:lnTo>
                  <a:pt x="126949" y="498373"/>
                </a:lnTo>
                <a:lnTo>
                  <a:pt x="118795" y="503796"/>
                </a:lnTo>
                <a:lnTo>
                  <a:pt x="113372" y="511937"/>
                </a:lnTo>
                <a:lnTo>
                  <a:pt x="111404" y="522084"/>
                </a:lnTo>
                <a:lnTo>
                  <a:pt x="113372" y="532231"/>
                </a:lnTo>
                <a:lnTo>
                  <a:pt x="118795" y="540385"/>
                </a:lnTo>
                <a:lnTo>
                  <a:pt x="126949" y="545795"/>
                </a:lnTo>
                <a:lnTo>
                  <a:pt x="137121" y="547763"/>
                </a:lnTo>
                <a:lnTo>
                  <a:pt x="308508" y="547763"/>
                </a:lnTo>
                <a:lnTo>
                  <a:pt x="318681" y="545795"/>
                </a:lnTo>
                <a:lnTo>
                  <a:pt x="326834" y="540385"/>
                </a:lnTo>
                <a:lnTo>
                  <a:pt x="332257" y="532231"/>
                </a:lnTo>
                <a:lnTo>
                  <a:pt x="334225" y="522084"/>
                </a:lnTo>
                <a:close/>
              </a:path>
              <a:path extrusionOk="0" h="719454" w="445769">
                <a:moveTo>
                  <a:pt x="445630" y="219964"/>
                </a:moveTo>
                <a:lnTo>
                  <a:pt x="440309" y="175653"/>
                </a:lnTo>
                <a:lnTo>
                  <a:pt x="426847" y="134442"/>
                </a:lnTo>
                <a:lnTo>
                  <a:pt x="406082" y="97180"/>
                </a:lnTo>
                <a:lnTo>
                  <a:pt x="395071" y="84035"/>
                </a:lnTo>
                <a:lnTo>
                  <a:pt x="395071" y="219964"/>
                </a:lnTo>
                <a:lnTo>
                  <a:pt x="395071" y="226809"/>
                </a:lnTo>
                <a:lnTo>
                  <a:pt x="394208" y="226809"/>
                </a:lnTo>
                <a:lnTo>
                  <a:pt x="392938" y="242189"/>
                </a:lnTo>
                <a:lnTo>
                  <a:pt x="390461" y="257403"/>
                </a:lnTo>
                <a:lnTo>
                  <a:pt x="376580" y="299364"/>
                </a:lnTo>
                <a:lnTo>
                  <a:pt x="353072" y="333794"/>
                </a:lnTo>
                <a:lnTo>
                  <a:pt x="338797" y="352082"/>
                </a:lnTo>
                <a:lnTo>
                  <a:pt x="325653" y="371017"/>
                </a:lnTo>
                <a:lnTo>
                  <a:pt x="313791" y="390601"/>
                </a:lnTo>
                <a:lnTo>
                  <a:pt x="303364" y="410819"/>
                </a:lnTo>
                <a:lnTo>
                  <a:pt x="143116" y="410819"/>
                </a:lnTo>
                <a:lnTo>
                  <a:pt x="120192" y="371017"/>
                </a:lnTo>
                <a:lnTo>
                  <a:pt x="93408" y="333794"/>
                </a:lnTo>
                <a:lnTo>
                  <a:pt x="84759" y="323062"/>
                </a:lnTo>
                <a:lnTo>
                  <a:pt x="76911" y="311543"/>
                </a:lnTo>
                <a:lnTo>
                  <a:pt x="59258" y="272300"/>
                </a:lnTo>
                <a:lnTo>
                  <a:pt x="52336" y="227660"/>
                </a:lnTo>
                <a:lnTo>
                  <a:pt x="52273" y="219964"/>
                </a:lnTo>
                <a:lnTo>
                  <a:pt x="59080" y="175069"/>
                </a:lnTo>
                <a:lnTo>
                  <a:pt x="76708" y="134747"/>
                </a:lnTo>
                <a:lnTo>
                  <a:pt x="103581" y="100558"/>
                </a:lnTo>
                <a:lnTo>
                  <a:pt x="138099" y="74079"/>
                </a:lnTo>
                <a:lnTo>
                  <a:pt x="178663" y="56870"/>
                </a:lnTo>
                <a:lnTo>
                  <a:pt x="223672" y="50495"/>
                </a:lnTo>
                <a:lnTo>
                  <a:pt x="268681" y="56807"/>
                </a:lnTo>
                <a:lnTo>
                  <a:pt x="309245" y="73888"/>
                </a:lnTo>
                <a:lnTo>
                  <a:pt x="343750" y="100241"/>
                </a:lnTo>
                <a:lnTo>
                  <a:pt x="370624" y="134366"/>
                </a:lnTo>
                <a:lnTo>
                  <a:pt x="388264" y="174777"/>
                </a:lnTo>
                <a:lnTo>
                  <a:pt x="395071" y="219964"/>
                </a:lnTo>
                <a:lnTo>
                  <a:pt x="395071" y="84035"/>
                </a:lnTo>
                <a:lnTo>
                  <a:pt x="361492" y="50495"/>
                </a:lnTo>
                <a:lnTo>
                  <a:pt x="308610" y="17640"/>
                </a:lnTo>
                <a:lnTo>
                  <a:pt x="267220" y="4711"/>
                </a:lnTo>
                <a:lnTo>
                  <a:pt x="222808" y="0"/>
                </a:lnTo>
                <a:lnTo>
                  <a:pt x="178409" y="4711"/>
                </a:lnTo>
                <a:lnTo>
                  <a:pt x="137020" y="17640"/>
                </a:lnTo>
                <a:lnTo>
                  <a:pt x="99517" y="37922"/>
                </a:lnTo>
                <a:lnTo>
                  <a:pt x="66738" y="64719"/>
                </a:lnTo>
                <a:lnTo>
                  <a:pt x="39547" y="97180"/>
                </a:lnTo>
                <a:lnTo>
                  <a:pt x="18783" y="134442"/>
                </a:lnTo>
                <a:lnTo>
                  <a:pt x="5321" y="175653"/>
                </a:lnTo>
                <a:lnTo>
                  <a:pt x="0" y="219964"/>
                </a:lnTo>
                <a:lnTo>
                  <a:pt x="0" y="227660"/>
                </a:lnTo>
                <a:lnTo>
                  <a:pt x="4495" y="266814"/>
                </a:lnTo>
                <a:lnTo>
                  <a:pt x="15417" y="304685"/>
                </a:lnTo>
                <a:lnTo>
                  <a:pt x="42418" y="353441"/>
                </a:lnTo>
                <a:lnTo>
                  <a:pt x="53987" y="368020"/>
                </a:lnTo>
                <a:lnTo>
                  <a:pt x="69507" y="388010"/>
                </a:lnTo>
                <a:lnTo>
                  <a:pt x="84302" y="411670"/>
                </a:lnTo>
                <a:lnTo>
                  <a:pt x="97015" y="434708"/>
                </a:lnTo>
                <a:lnTo>
                  <a:pt x="106260" y="452755"/>
                </a:lnTo>
                <a:lnTo>
                  <a:pt x="108839" y="458749"/>
                </a:lnTo>
                <a:lnTo>
                  <a:pt x="114833" y="462178"/>
                </a:lnTo>
                <a:lnTo>
                  <a:pt x="330796" y="462178"/>
                </a:lnTo>
                <a:lnTo>
                  <a:pt x="336791" y="458749"/>
                </a:lnTo>
                <a:lnTo>
                  <a:pt x="339369" y="452755"/>
                </a:lnTo>
                <a:lnTo>
                  <a:pt x="348615" y="434708"/>
                </a:lnTo>
                <a:lnTo>
                  <a:pt x="361327" y="411670"/>
                </a:lnTo>
                <a:lnTo>
                  <a:pt x="361861" y="410819"/>
                </a:lnTo>
                <a:lnTo>
                  <a:pt x="376123" y="388010"/>
                </a:lnTo>
                <a:lnTo>
                  <a:pt x="391642" y="368020"/>
                </a:lnTo>
                <a:lnTo>
                  <a:pt x="403326" y="353441"/>
                </a:lnTo>
                <a:lnTo>
                  <a:pt x="413816" y="337959"/>
                </a:lnTo>
                <a:lnTo>
                  <a:pt x="436473" y="285915"/>
                </a:lnTo>
                <a:lnTo>
                  <a:pt x="444182" y="247396"/>
                </a:lnTo>
                <a:lnTo>
                  <a:pt x="445630" y="227660"/>
                </a:lnTo>
                <a:lnTo>
                  <a:pt x="445630" y="21996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1975" y="0"/>
            <a:ext cx="121065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2491425" cy="131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4"/>
          <p:cNvGrpSpPr/>
          <p:nvPr/>
        </p:nvGrpSpPr>
        <p:grpSpPr>
          <a:xfrm>
            <a:off x="7627620" y="2354924"/>
            <a:ext cx="4098290" cy="2762885"/>
            <a:chOff x="7627620" y="2026920"/>
            <a:chExt cx="4098290" cy="2762885"/>
          </a:xfrm>
        </p:grpSpPr>
        <p:sp>
          <p:nvSpPr>
            <p:cNvPr id="273" name="Google Shape;273;p14"/>
            <p:cNvSpPr/>
            <p:nvPr/>
          </p:nvSpPr>
          <p:spPr>
            <a:xfrm>
              <a:off x="7664196" y="2033016"/>
              <a:ext cx="3550920" cy="262432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7627620" y="2026920"/>
              <a:ext cx="4098290" cy="2762885"/>
            </a:xfrm>
            <a:custGeom>
              <a:rect b="b" l="l" r="r" t="t"/>
              <a:pathLst>
                <a:path extrusionOk="0" h="2762885" w="4098290">
                  <a:moveTo>
                    <a:pt x="4098035" y="0"/>
                  </a:moveTo>
                  <a:lnTo>
                    <a:pt x="0" y="0"/>
                  </a:lnTo>
                  <a:lnTo>
                    <a:pt x="0" y="2473452"/>
                  </a:lnTo>
                  <a:lnTo>
                    <a:pt x="2390521" y="2473452"/>
                  </a:lnTo>
                  <a:lnTo>
                    <a:pt x="3683380" y="2762377"/>
                  </a:lnTo>
                  <a:lnTo>
                    <a:pt x="3415029" y="2473452"/>
                  </a:lnTo>
                  <a:lnTo>
                    <a:pt x="4098035" y="2473452"/>
                  </a:lnTo>
                  <a:lnTo>
                    <a:pt x="409803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p14"/>
          <p:cNvSpPr txBox="1"/>
          <p:nvPr>
            <p:ph type="title"/>
          </p:nvPr>
        </p:nvSpPr>
        <p:spPr>
          <a:xfrm>
            <a:off x="221900" y="1651962"/>
            <a:ext cx="105156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62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1800"/>
              <a:buNone/>
            </a:pPr>
            <a:r>
              <a:rPr b="1" lang="en-US" sz="40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The Ask</a:t>
            </a:r>
            <a:br>
              <a:rPr lang="en-US" sz="40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What do you need from me?</a:t>
            </a:r>
            <a:endParaRPr/>
          </a:p>
        </p:txBody>
      </p:sp>
      <p:sp>
        <p:nvSpPr>
          <p:cNvPr id="276" name="Google Shape;276;p14"/>
          <p:cNvSpPr txBox="1"/>
          <p:nvPr/>
        </p:nvSpPr>
        <p:spPr>
          <a:xfrm>
            <a:off x="394069" y="2882420"/>
            <a:ext cx="6821700" cy="2055900"/>
          </a:xfrm>
          <a:prstGeom prst="rect">
            <a:avLst/>
          </a:prstGeom>
          <a:solidFill>
            <a:srgbClr val="EBE6A1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90805" marR="0" rtl="0" algn="l">
              <a:lnSpc>
                <a:spcPct val="13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0" marL="320040" marR="0" rtl="0" algn="l">
              <a:lnSpc>
                <a:spcPct val="100000"/>
              </a:lnSpc>
              <a:spcBef>
                <a:spcPts val="4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Your investment ask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0" marL="32004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Runway period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0" marL="320040" marR="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Funding allocation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0" marL="320040" marR="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Non-monetary support you need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0" marL="32004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us and why now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 txBox="1"/>
          <p:nvPr/>
        </p:nvSpPr>
        <p:spPr>
          <a:xfrm>
            <a:off x="7888605" y="2743200"/>
            <a:ext cx="3630295" cy="203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investors think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9812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do we have to invest now?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9812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do we have to invest in your  company not others?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9812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do you need to succeed?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1358011" y="5226714"/>
            <a:ext cx="4893945" cy="680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Tips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 strategic, it is a trigger for further discussion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755434" y="5181600"/>
            <a:ext cx="445770" cy="719455"/>
          </a:xfrm>
          <a:custGeom>
            <a:rect b="b" l="l" r="r" t="t"/>
            <a:pathLst>
              <a:path extrusionOk="0" h="719454" w="445769">
                <a:moveTo>
                  <a:pt x="278523" y="667588"/>
                </a:moveTo>
                <a:lnTo>
                  <a:pt x="167106" y="667588"/>
                </a:lnTo>
                <a:lnTo>
                  <a:pt x="172796" y="687882"/>
                </a:lnTo>
                <a:lnTo>
                  <a:pt x="185000" y="704176"/>
                </a:lnTo>
                <a:lnTo>
                  <a:pt x="202184" y="715010"/>
                </a:lnTo>
                <a:lnTo>
                  <a:pt x="222808" y="718934"/>
                </a:lnTo>
                <a:lnTo>
                  <a:pt x="243446" y="715010"/>
                </a:lnTo>
                <a:lnTo>
                  <a:pt x="260629" y="704176"/>
                </a:lnTo>
                <a:lnTo>
                  <a:pt x="272821" y="687882"/>
                </a:lnTo>
                <a:lnTo>
                  <a:pt x="278523" y="667588"/>
                </a:lnTo>
                <a:close/>
              </a:path>
              <a:path extrusionOk="0" h="719454" w="445769">
                <a:moveTo>
                  <a:pt x="334225" y="607669"/>
                </a:moveTo>
                <a:lnTo>
                  <a:pt x="332257" y="597522"/>
                </a:lnTo>
                <a:lnTo>
                  <a:pt x="326834" y="589381"/>
                </a:lnTo>
                <a:lnTo>
                  <a:pt x="318681" y="583958"/>
                </a:lnTo>
                <a:lnTo>
                  <a:pt x="308508" y="582002"/>
                </a:lnTo>
                <a:lnTo>
                  <a:pt x="137121" y="582002"/>
                </a:lnTo>
                <a:lnTo>
                  <a:pt x="126949" y="583958"/>
                </a:lnTo>
                <a:lnTo>
                  <a:pt x="118795" y="589381"/>
                </a:lnTo>
                <a:lnTo>
                  <a:pt x="113372" y="597522"/>
                </a:lnTo>
                <a:lnTo>
                  <a:pt x="111404" y="607669"/>
                </a:lnTo>
                <a:lnTo>
                  <a:pt x="113372" y="617829"/>
                </a:lnTo>
                <a:lnTo>
                  <a:pt x="118795" y="625970"/>
                </a:lnTo>
                <a:lnTo>
                  <a:pt x="126949" y="631380"/>
                </a:lnTo>
                <a:lnTo>
                  <a:pt x="137121" y="633349"/>
                </a:lnTo>
                <a:lnTo>
                  <a:pt x="308508" y="633349"/>
                </a:lnTo>
                <a:lnTo>
                  <a:pt x="318681" y="631380"/>
                </a:lnTo>
                <a:lnTo>
                  <a:pt x="326834" y="625970"/>
                </a:lnTo>
                <a:lnTo>
                  <a:pt x="332257" y="617829"/>
                </a:lnTo>
                <a:lnTo>
                  <a:pt x="334225" y="607669"/>
                </a:lnTo>
                <a:close/>
              </a:path>
              <a:path extrusionOk="0" h="719454" w="445769">
                <a:moveTo>
                  <a:pt x="334225" y="522084"/>
                </a:moveTo>
                <a:lnTo>
                  <a:pt x="332257" y="511937"/>
                </a:lnTo>
                <a:lnTo>
                  <a:pt x="326834" y="503796"/>
                </a:lnTo>
                <a:lnTo>
                  <a:pt x="318681" y="498373"/>
                </a:lnTo>
                <a:lnTo>
                  <a:pt x="308508" y="496404"/>
                </a:lnTo>
                <a:lnTo>
                  <a:pt x="137121" y="496404"/>
                </a:lnTo>
                <a:lnTo>
                  <a:pt x="126949" y="498373"/>
                </a:lnTo>
                <a:lnTo>
                  <a:pt x="118795" y="503796"/>
                </a:lnTo>
                <a:lnTo>
                  <a:pt x="113372" y="511937"/>
                </a:lnTo>
                <a:lnTo>
                  <a:pt x="111404" y="522084"/>
                </a:lnTo>
                <a:lnTo>
                  <a:pt x="113372" y="532231"/>
                </a:lnTo>
                <a:lnTo>
                  <a:pt x="118795" y="540385"/>
                </a:lnTo>
                <a:lnTo>
                  <a:pt x="126949" y="545795"/>
                </a:lnTo>
                <a:lnTo>
                  <a:pt x="137121" y="547763"/>
                </a:lnTo>
                <a:lnTo>
                  <a:pt x="308508" y="547763"/>
                </a:lnTo>
                <a:lnTo>
                  <a:pt x="318681" y="545795"/>
                </a:lnTo>
                <a:lnTo>
                  <a:pt x="326834" y="540385"/>
                </a:lnTo>
                <a:lnTo>
                  <a:pt x="332257" y="532231"/>
                </a:lnTo>
                <a:lnTo>
                  <a:pt x="334225" y="522084"/>
                </a:lnTo>
                <a:close/>
              </a:path>
              <a:path extrusionOk="0" h="719454" w="445769">
                <a:moveTo>
                  <a:pt x="445630" y="219964"/>
                </a:moveTo>
                <a:lnTo>
                  <a:pt x="440309" y="175653"/>
                </a:lnTo>
                <a:lnTo>
                  <a:pt x="426847" y="134442"/>
                </a:lnTo>
                <a:lnTo>
                  <a:pt x="406082" y="97180"/>
                </a:lnTo>
                <a:lnTo>
                  <a:pt x="395071" y="84035"/>
                </a:lnTo>
                <a:lnTo>
                  <a:pt x="395071" y="219964"/>
                </a:lnTo>
                <a:lnTo>
                  <a:pt x="395071" y="226809"/>
                </a:lnTo>
                <a:lnTo>
                  <a:pt x="394208" y="226809"/>
                </a:lnTo>
                <a:lnTo>
                  <a:pt x="392938" y="242189"/>
                </a:lnTo>
                <a:lnTo>
                  <a:pt x="390461" y="257403"/>
                </a:lnTo>
                <a:lnTo>
                  <a:pt x="376580" y="299364"/>
                </a:lnTo>
                <a:lnTo>
                  <a:pt x="353072" y="333794"/>
                </a:lnTo>
                <a:lnTo>
                  <a:pt x="338797" y="352082"/>
                </a:lnTo>
                <a:lnTo>
                  <a:pt x="325653" y="371017"/>
                </a:lnTo>
                <a:lnTo>
                  <a:pt x="313791" y="390601"/>
                </a:lnTo>
                <a:lnTo>
                  <a:pt x="303364" y="410819"/>
                </a:lnTo>
                <a:lnTo>
                  <a:pt x="143116" y="410819"/>
                </a:lnTo>
                <a:lnTo>
                  <a:pt x="120192" y="371017"/>
                </a:lnTo>
                <a:lnTo>
                  <a:pt x="93408" y="333794"/>
                </a:lnTo>
                <a:lnTo>
                  <a:pt x="84759" y="323062"/>
                </a:lnTo>
                <a:lnTo>
                  <a:pt x="76911" y="311543"/>
                </a:lnTo>
                <a:lnTo>
                  <a:pt x="59258" y="272300"/>
                </a:lnTo>
                <a:lnTo>
                  <a:pt x="52336" y="227660"/>
                </a:lnTo>
                <a:lnTo>
                  <a:pt x="52273" y="219964"/>
                </a:lnTo>
                <a:lnTo>
                  <a:pt x="59080" y="175069"/>
                </a:lnTo>
                <a:lnTo>
                  <a:pt x="76708" y="134747"/>
                </a:lnTo>
                <a:lnTo>
                  <a:pt x="103581" y="100558"/>
                </a:lnTo>
                <a:lnTo>
                  <a:pt x="138099" y="74079"/>
                </a:lnTo>
                <a:lnTo>
                  <a:pt x="178663" y="56870"/>
                </a:lnTo>
                <a:lnTo>
                  <a:pt x="223672" y="50495"/>
                </a:lnTo>
                <a:lnTo>
                  <a:pt x="268681" y="56807"/>
                </a:lnTo>
                <a:lnTo>
                  <a:pt x="309245" y="73888"/>
                </a:lnTo>
                <a:lnTo>
                  <a:pt x="343750" y="100241"/>
                </a:lnTo>
                <a:lnTo>
                  <a:pt x="370624" y="134366"/>
                </a:lnTo>
                <a:lnTo>
                  <a:pt x="388264" y="174777"/>
                </a:lnTo>
                <a:lnTo>
                  <a:pt x="395071" y="219964"/>
                </a:lnTo>
                <a:lnTo>
                  <a:pt x="395071" y="84035"/>
                </a:lnTo>
                <a:lnTo>
                  <a:pt x="361492" y="50495"/>
                </a:lnTo>
                <a:lnTo>
                  <a:pt x="308610" y="17640"/>
                </a:lnTo>
                <a:lnTo>
                  <a:pt x="267220" y="4711"/>
                </a:lnTo>
                <a:lnTo>
                  <a:pt x="222808" y="0"/>
                </a:lnTo>
                <a:lnTo>
                  <a:pt x="178409" y="4711"/>
                </a:lnTo>
                <a:lnTo>
                  <a:pt x="137020" y="17640"/>
                </a:lnTo>
                <a:lnTo>
                  <a:pt x="99517" y="37922"/>
                </a:lnTo>
                <a:lnTo>
                  <a:pt x="66738" y="64719"/>
                </a:lnTo>
                <a:lnTo>
                  <a:pt x="39547" y="97180"/>
                </a:lnTo>
                <a:lnTo>
                  <a:pt x="18783" y="134442"/>
                </a:lnTo>
                <a:lnTo>
                  <a:pt x="5321" y="175653"/>
                </a:lnTo>
                <a:lnTo>
                  <a:pt x="0" y="219964"/>
                </a:lnTo>
                <a:lnTo>
                  <a:pt x="0" y="227660"/>
                </a:lnTo>
                <a:lnTo>
                  <a:pt x="4495" y="266814"/>
                </a:lnTo>
                <a:lnTo>
                  <a:pt x="15417" y="304685"/>
                </a:lnTo>
                <a:lnTo>
                  <a:pt x="42418" y="353441"/>
                </a:lnTo>
                <a:lnTo>
                  <a:pt x="53987" y="368020"/>
                </a:lnTo>
                <a:lnTo>
                  <a:pt x="69507" y="388010"/>
                </a:lnTo>
                <a:lnTo>
                  <a:pt x="84302" y="411670"/>
                </a:lnTo>
                <a:lnTo>
                  <a:pt x="97015" y="434708"/>
                </a:lnTo>
                <a:lnTo>
                  <a:pt x="106260" y="452755"/>
                </a:lnTo>
                <a:lnTo>
                  <a:pt x="108839" y="458749"/>
                </a:lnTo>
                <a:lnTo>
                  <a:pt x="114833" y="462178"/>
                </a:lnTo>
                <a:lnTo>
                  <a:pt x="330796" y="462178"/>
                </a:lnTo>
                <a:lnTo>
                  <a:pt x="336791" y="458749"/>
                </a:lnTo>
                <a:lnTo>
                  <a:pt x="339369" y="452755"/>
                </a:lnTo>
                <a:lnTo>
                  <a:pt x="348615" y="434708"/>
                </a:lnTo>
                <a:lnTo>
                  <a:pt x="361327" y="411670"/>
                </a:lnTo>
                <a:lnTo>
                  <a:pt x="361861" y="410819"/>
                </a:lnTo>
                <a:lnTo>
                  <a:pt x="376123" y="388010"/>
                </a:lnTo>
                <a:lnTo>
                  <a:pt x="391642" y="368020"/>
                </a:lnTo>
                <a:lnTo>
                  <a:pt x="403326" y="353441"/>
                </a:lnTo>
                <a:lnTo>
                  <a:pt x="413816" y="337959"/>
                </a:lnTo>
                <a:lnTo>
                  <a:pt x="436473" y="285915"/>
                </a:lnTo>
                <a:lnTo>
                  <a:pt x="444182" y="247396"/>
                </a:lnTo>
                <a:lnTo>
                  <a:pt x="445630" y="227660"/>
                </a:lnTo>
                <a:lnTo>
                  <a:pt x="445630" y="21996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1975" y="0"/>
            <a:ext cx="121065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2491425" cy="131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"/>
          <p:cNvSpPr txBox="1"/>
          <p:nvPr/>
        </p:nvSpPr>
        <p:spPr>
          <a:xfrm>
            <a:off x="1120851" y="2243513"/>
            <a:ext cx="2924100" cy="3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1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ABC Street, Alexandria 12345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Phone Number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+2012345678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Email Address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info@companyname.com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Website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www.companyname.com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5664708" y="3440360"/>
            <a:ext cx="5518907" cy="139293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 txBox="1"/>
          <p:nvPr>
            <p:ph type="title"/>
          </p:nvPr>
        </p:nvSpPr>
        <p:spPr>
          <a:xfrm>
            <a:off x="668025" y="1534386"/>
            <a:ext cx="105156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SzPts val="1800"/>
              <a:buNone/>
            </a:pPr>
            <a:r>
              <a:rPr b="1" lang="en-US" sz="40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Contact Details</a:t>
            </a:r>
            <a:endParaRPr sz="40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01975" y="0"/>
            <a:ext cx="121065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0"/>
            <a:ext cx="2491425" cy="131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2022-03-27T13:38:30Z</dcterms:created>
  <dc:creator>Ahmed Bastawy</dc:creator>
</cp:coreProperties>
</file>