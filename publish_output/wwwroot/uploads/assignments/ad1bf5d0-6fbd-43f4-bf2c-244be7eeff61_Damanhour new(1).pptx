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embeddedFontLst>
    <p:embeddedFont>
      <p:font typeface="Lato" panose="020F0502020204030203" pitchFamily="34" charset="0"/>
      <p:regular r:id="rId4"/>
      <p:bold r:id="rId5"/>
      <p:italic r:id="rId6"/>
      <p:boldItalic r:id="rId7"/>
    </p:embeddedFont>
    <p:embeddedFont>
      <p:font typeface="Poppins" panose="00000500000000000000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hBrqXBVGPBtNRfF+HGC5K8A7IR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0.</a:t>
            </a:r>
            <a:endParaRPr dirty="0"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315619"/>
            <a:ext cx="114300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"/>
          <p:cNvSpPr/>
          <p:nvPr/>
        </p:nvSpPr>
        <p:spPr>
          <a:xfrm>
            <a:off x="10626571" y="315619"/>
            <a:ext cx="1316596" cy="85725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381125"/>
            <a:ext cx="4352625" cy="382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4127" y="1381125"/>
            <a:ext cx="3348186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24125" y="3638550"/>
            <a:ext cx="3348200" cy="157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62813" y="1381125"/>
            <a:ext cx="3348186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62825" y="3638550"/>
            <a:ext cx="3348175" cy="15719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/>
          <p:nvPr/>
        </p:nvSpPr>
        <p:spPr>
          <a:xfrm>
            <a:off x="1372939" y="5376862"/>
            <a:ext cx="838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275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6310907" y="5376862"/>
            <a:ext cx="10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275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674550" y="592762"/>
            <a:ext cx="9488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Masarak</a:t>
            </a:r>
            <a:r>
              <a:rPr lang="en-US" sz="24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– The Egyptian Virtual School</a:t>
            </a:r>
          </a:p>
        </p:txBody>
      </p:sp>
      <p:sp>
        <p:nvSpPr>
          <p:cNvPr id="98" name="Google Shape;98;p2"/>
          <p:cNvSpPr txBox="1"/>
          <p:nvPr/>
        </p:nvSpPr>
        <p:spPr>
          <a:xfrm>
            <a:off x="904875" y="1694334"/>
            <a:ext cx="377015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500"/>
              <a:buFont typeface="Poppins"/>
              <a:buNone/>
            </a:pPr>
            <a:r>
              <a:rPr lang="en-US" sz="1500" b="1" i="0" u="none" strike="noStrike" cap="non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Problem Statments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5448002" y="1694334"/>
            <a:ext cx="271549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500"/>
              <a:buFont typeface="Poppins"/>
              <a:buNone/>
            </a:pPr>
            <a:r>
              <a:rPr lang="en-US" sz="1500" b="1" i="0" u="none" strike="noStrike" cap="non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5448002" y="3924300"/>
            <a:ext cx="271549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500"/>
              <a:buFont typeface="Poppins"/>
              <a:buNone/>
            </a:pPr>
            <a:r>
              <a:rPr lang="en-US" sz="1500" b="1" i="0" u="none" strike="noStrike" cap="none" dirty="0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Target Customers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8986688" y="1666875"/>
            <a:ext cx="271549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500"/>
              <a:buFont typeface="Poppins"/>
              <a:buNone/>
            </a:pPr>
            <a:r>
              <a:rPr lang="en-US" sz="1500" b="1" i="0" u="none" strike="noStrike" cap="none" dirty="0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Revenue Model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8862400" y="3924300"/>
            <a:ext cx="271549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500"/>
              <a:buFont typeface="Poppins"/>
              <a:buNone/>
            </a:pPr>
            <a:r>
              <a:rPr lang="en-US" sz="1500" b="1" i="0" u="none" strike="noStrike" cap="none" dirty="0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Technologies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9125" y="17145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162252" y="17145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162252" y="39719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700938" y="17145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576650" y="39719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/>
          <p:nvPr/>
        </p:nvSpPr>
        <p:spPr>
          <a:xfrm flipH="1">
            <a:off x="132168" y="133164"/>
            <a:ext cx="11927657" cy="6596109"/>
          </a:xfrm>
          <a:prstGeom prst="roundRect">
            <a:avLst>
              <a:gd name="adj" fmla="val 806"/>
            </a:avLst>
          </a:prstGeom>
          <a:noFill/>
          <a:ln w="12700" cap="flat" cmpd="sng">
            <a:solidFill>
              <a:srgbClr val="0C0C0C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1" y="6705208"/>
            <a:ext cx="12192000" cy="16754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85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643188" y="1921055"/>
            <a:ext cx="3770158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/>
              <a:t>Egyptian students abroad struggle to access the Egyptian curriculum. </a:t>
            </a:r>
          </a:p>
          <a:p>
            <a:r>
              <a:rPr lang="en-US" dirty="0"/>
              <a:t>Limited preparation for Egyptian Embassy Exams. </a:t>
            </a:r>
          </a:p>
          <a:p>
            <a:r>
              <a:rPr lang="en-US" dirty="0"/>
              <a:t>Difficulty tracking student progress remotely. </a:t>
            </a:r>
          </a:p>
          <a:p>
            <a:r>
              <a:rPr lang="en-US" dirty="0"/>
              <a:t>Lack of personalized learning experience. </a:t>
            </a:r>
          </a:p>
          <a:p>
            <a:r>
              <a:rPr lang="en-US" dirty="0"/>
              <a:t>Parents need continuous monitoring of their children's performance. </a:t>
            </a:r>
          </a:p>
          <a:p>
            <a:br>
              <a:rPr lang="en-US" dirty="0"/>
            </a:br>
            <a:endParaRPr lang="en-US"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  <p:sp>
        <p:nvSpPr>
          <p:cNvPr id="111" name="Google Shape;111;p2"/>
          <p:cNvSpPr txBox="1"/>
          <p:nvPr/>
        </p:nvSpPr>
        <p:spPr>
          <a:xfrm>
            <a:off x="5146668" y="2020047"/>
            <a:ext cx="3348175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dirty="0"/>
              <a:t>AI-powered learning platform. </a:t>
            </a:r>
          </a:p>
          <a:p>
            <a:r>
              <a:rPr lang="en-US" dirty="0"/>
              <a:t>Primary, Preparatory &amp; Secondary stages. </a:t>
            </a:r>
          </a:p>
          <a:p>
            <a:r>
              <a:rPr lang="en-US" dirty="0"/>
              <a:t>Interactive lessons, quizzes &amp; exams. </a:t>
            </a:r>
          </a:p>
          <a:p>
            <a:r>
              <a:rPr lang="en-US" dirty="0"/>
              <a:t>Personalized AI learning. </a:t>
            </a:r>
          </a:p>
          <a:p>
            <a:r>
              <a:rPr lang="en-US" dirty="0"/>
              <a:t>Parent progress dashboard.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dirty="0"/>
          </a:p>
        </p:txBody>
      </p:sp>
      <p:sp>
        <p:nvSpPr>
          <p:cNvPr id="112" name="Google Shape;112;p2"/>
          <p:cNvSpPr txBox="1"/>
          <p:nvPr/>
        </p:nvSpPr>
        <p:spPr>
          <a:xfrm>
            <a:off x="8524004" y="4249941"/>
            <a:ext cx="311006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 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Semantic Kernel | </a:t>
            </a:r>
            <a:r>
              <a:rPr lang="en-U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Qdrant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(RAG)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8669346" y="4586069"/>
            <a:ext cx="2855903" cy="93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100" b="1" dirty="0"/>
              <a:t>Backend:</a:t>
            </a:r>
            <a:r>
              <a:rPr lang="en-US" sz="1100" dirty="0"/>
              <a:t> ASP.NET Core | EF Core | SQL Server | JWT</a:t>
            </a:r>
          </a:p>
          <a:p>
            <a:r>
              <a:rPr lang="en-US" sz="1100" b="1" dirty="0"/>
              <a:t>Frontend:</a:t>
            </a:r>
            <a:r>
              <a:rPr lang="en-US" sz="1100" dirty="0"/>
              <a:t> Angular | TypeScript | Bootstrap | SCSS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24471" y="318957"/>
            <a:ext cx="886528" cy="59589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"/>
          <p:cNvSpPr txBox="1"/>
          <p:nvPr/>
        </p:nvSpPr>
        <p:spPr>
          <a:xfrm>
            <a:off x="10910656" y="905970"/>
            <a:ext cx="1193894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/>
              <a:t>Damanhour</a:t>
            </a:r>
            <a:endParaRPr b="1" dirty="0"/>
          </a:p>
        </p:txBody>
      </p:sp>
      <p:pic>
        <p:nvPicPr>
          <p:cNvPr id="117" name="Google Shape;117;p2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85524" y="5382839"/>
            <a:ext cx="11425475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"/>
          <p:cNvSpPr txBox="1"/>
          <p:nvPr/>
        </p:nvSpPr>
        <p:spPr>
          <a:xfrm>
            <a:off x="207956" y="6187823"/>
            <a:ext cx="173171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Clr>
                <a:srgbClr val="1E293B"/>
              </a:buClr>
              <a:buSzPts val="1200"/>
            </a:pPr>
            <a:r>
              <a:rPr lang="en-US" sz="1200" b="1" dirty="0">
                <a:solidFill>
                  <a:srgbClr val="1E293B"/>
                </a:solidFill>
                <a:latin typeface="Poppins"/>
                <a:cs typeface="Poppins"/>
              </a:rPr>
              <a:t>Alaa</a:t>
            </a:r>
          </a:p>
          <a:p>
            <a:pPr algn="ctr">
              <a:buClr>
                <a:srgbClr val="1E293B"/>
              </a:buClr>
              <a:buSzPts val="1200"/>
            </a:pPr>
            <a:r>
              <a:rPr lang="en-US" sz="1200" b="1" dirty="0">
                <a:solidFill>
                  <a:srgbClr val="1E293B"/>
                </a:solidFill>
                <a:latin typeface="Poppins"/>
                <a:cs typeface="Poppins"/>
              </a:rPr>
              <a:t> Walid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1846625" y="6152224"/>
            <a:ext cx="10300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E293B"/>
                </a:solidFill>
                <a:latin typeface="Poppins"/>
                <a:cs typeface="Poppins"/>
              </a:rPr>
              <a:t>Riham Mohammed</a:t>
            </a:r>
          </a:p>
        </p:txBody>
      </p:sp>
      <p:sp>
        <p:nvSpPr>
          <p:cNvPr id="120" name="Google Shape;120;p2"/>
          <p:cNvSpPr txBox="1"/>
          <p:nvPr/>
        </p:nvSpPr>
        <p:spPr>
          <a:xfrm>
            <a:off x="2864412" y="6131025"/>
            <a:ext cx="154893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E293B"/>
                </a:solidFill>
                <a:latin typeface="Poppins"/>
                <a:cs typeface="Poppins"/>
              </a:rPr>
              <a:t>Habiba Mohammed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4613268" y="6109066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E293B"/>
                </a:solidFill>
                <a:latin typeface="Poppins"/>
                <a:cs typeface="Poppins"/>
              </a:rPr>
              <a:t>Ahmed Mahran</a:t>
            </a:r>
          </a:p>
        </p:txBody>
      </p:sp>
      <p:sp>
        <p:nvSpPr>
          <p:cNvPr id="122" name="Google Shape;122;p2"/>
          <p:cNvSpPr txBox="1"/>
          <p:nvPr/>
        </p:nvSpPr>
        <p:spPr>
          <a:xfrm>
            <a:off x="5710991" y="6109066"/>
            <a:ext cx="119983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Clr>
                <a:srgbClr val="1E293B"/>
              </a:buClr>
              <a:buSzPts val="1200"/>
            </a:pPr>
            <a:r>
              <a:rPr lang="en-US" sz="1200" b="1" dirty="0">
                <a:solidFill>
                  <a:srgbClr val="1E293B"/>
                </a:solidFill>
                <a:latin typeface="Poppins"/>
                <a:cs typeface="Poppins"/>
              </a:rPr>
              <a:t>Amr </a:t>
            </a:r>
          </a:p>
          <a:p>
            <a:pPr algn="ctr">
              <a:buClr>
                <a:srgbClr val="1E293B"/>
              </a:buClr>
              <a:buSzPts val="1200"/>
            </a:pPr>
            <a:r>
              <a:rPr lang="en-US" sz="1200" b="1" dirty="0">
                <a:solidFill>
                  <a:srgbClr val="1E293B"/>
                </a:solidFill>
                <a:latin typeface="Poppins"/>
                <a:cs typeface="Poppins"/>
              </a:rPr>
              <a:t>Tarik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7344099" y="6052148"/>
            <a:ext cx="14230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E293B"/>
                </a:solidFill>
                <a:latin typeface="Poppins"/>
                <a:cs typeface="Poppins"/>
              </a:rPr>
              <a:t>Ahmed </a:t>
            </a:r>
          </a:p>
          <a:p>
            <a:pPr algn="ctr"/>
            <a:r>
              <a:rPr lang="en-US" sz="1200" b="1" dirty="0">
                <a:solidFill>
                  <a:srgbClr val="1E293B"/>
                </a:solidFill>
                <a:latin typeface="Poppins"/>
                <a:cs typeface="Poppins"/>
              </a:rPr>
              <a:t>Ghanem</a:t>
            </a:r>
          </a:p>
        </p:txBody>
      </p:sp>
      <p:sp>
        <p:nvSpPr>
          <p:cNvPr id="130" name="Google Shape;130;p2"/>
          <p:cNvSpPr txBox="1"/>
          <p:nvPr/>
        </p:nvSpPr>
        <p:spPr>
          <a:xfrm>
            <a:off x="10000767" y="5615469"/>
            <a:ext cx="19878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Supervised by: </a:t>
            </a:r>
            <a:br>
              <a:rPr lang="en-US" sz="1200" b="1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200" b="1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Eng. Omnia Elsheikh</a:t>
            </a:r>
            <a:endParaRPr lang="en-US" sz="1200" b="1" dirty="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8659966" y="1970722"/>
            <a:ext cx="3042217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n-US" dirty="0"/>
              <a:t>Monthly &amp; Annual Subscription Plans. Premium AI Features. School &amp; Educational Institution Licenses. </a:t>
            </a:r>
            <a:endParaRPr dirty="0"/>
          </a:p>
        </p:txBody>
      </p:sp>
      <p:sp>
        <p:nvSpPr>
          <p:cNvPr id="133" name="Google Shape;133;p2"/>
          <p:cNvSpPr txBox="1"/>
          <p:nvPr/>
        </p:nvSpPr>
        <p:spPr>
          <a:xfrm>
            <a:off x="5146668" y="4226323"/>
            <a:ext cx="3042217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dirty="0"/>
              <a:t>Egyptian students abroad. </a:t>
            </a:r>
          </a:p>
          <a:p>
            <a:r>
              <a:rPr lang="en-US" dirty="0"/>
              <a:t>Parents. </a:t>
            </a:r>
          </a:p>
          <a:p>
            <a:r>
              <a:rPr lang="en-US" dirty="0"/>
              <a:t>Egyptian schools abroad. </a:t>
            </a:r>
          </a:p>
          <a:p>
            <a:r>
              <a:rPr lang="en-US" dirty="0"/>
              <a:t>Embassy exam candidates. 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67FE51-65FD-0605-4F00-64A8685116A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669083" y="5239642"/>
            <a:ext cx="945544" cy="8559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7E8E8B-F2B9-D3E5-B2E5-334FAB86542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1862279" y="5214319"/>
            <a:ext cx="731593" cy="8371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808850-673F-9DD1-8CDF-2E37532475C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3216972" y="5138045"/>
            <a:ext cx="960554" cy="8582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C20F4A-35E9-1DCD-DA64-67E6984DB55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4707582" y="5199303"/>
            <a:ext cx="734282" cy="7678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478604-F135-6B1C-256C-57A30499933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5830575" y="5129998"/>
            <a:ext cx="976501" cy="858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153941-A144-C3FB-47BD-E77CE0DA6EF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7458842" y="5219545"/>
            <a:ext cx="983399" cy="7382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167</Words>
  <Application>Microsoft Office PowerPoint</Application>
  <PresentationFormat>Widescreen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Poppins</vt:lpstr>
      <vt:lpstr>Arial</vt:lpstr>
      <vt:lpstr>Calibri</vt:lpstr>
      <vt:lpstr>Lato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Hussein Farghal Mohamed Farghal</dc:creator>
  <cp:lastModifiedBy>Alaa Walid</cp:lastModifiedBy>
  <cp:revision>4</cp:revision>
  <dcterms:created xsi:type="dcterms:W3CDTF">2026-07-14T06:29:55Z</dcterms:created>
  <dcterms:modified xsi:type="dcterms:W3CDTF">2026-07-29T06:41:06Z</dcterms:modified>
</cp:coreProperties>
</file>